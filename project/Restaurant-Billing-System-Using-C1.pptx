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81C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E2F62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81C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1E2F62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81C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081C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695324"/>
            <a:ext cx="4467224" cy="23431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305" y="427596"/>
            <a:ext cx="10303389" cy="682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081C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466" y="1362036"/>
            <a:ext cx="9617710" cy="4380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E2F62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8288" y="3176270"/>
            <a:ext cx="5640070" cy="4508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00" spc="150" b="1">
                <a:solidFill>
                  <a:srgbClr val="081C52"/>
                </a:solidFill>
                <a:latin typeface="Calibri"/>
                <a:cs typeface="Calibri"/>
              </a:rPr>
              <a:t>Restaurant</a:t>
            </a:r>
            <a:r>
              <a:rPr dirty="0" sz="2800" spc="-75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2800" spc="130" b="1">
                <a:solidFill>
                  <a:srgbClr val="081C52"/>
                </a:solidFill>
                <a:latin typeface="Calibri"/>
                <a:cs typeface="Calibri"/>
              </a:rPr>
              <a:t>Billing</a:t>
            </a:r>
            <a:r>
              <a:rPr dirty="0" sz="2800" spc="-70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2800" spc="240" b="1">
                <a:solidFill>
                  <a:srgbClr val="081C52"/>
                </a:solidFill>
                <a:latin typeface="Calibri"/>
                <a:cs typeface="Calibri"/>
              </a:rPr>
              <a:t>System</a:t>
            </a:r>
            <a:r>
              <a:rPr dirty="0" sz="2800" spc="-70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2800" spc="195" b="1">
                <a:solidFill>
                  <a:srgbClr val="081C52"/>
                </a:solidFill>
                <a:latin typeface="Calibri"/>
                <a:cs typeface="Calibri"/>
              </a:rPr>
              <a:t>Using</a:t>
            </a:r>
            <a:r>
              <a:rPr dirty="0" sz="2800" spc="-75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2800" spc="545" b="1">
                <a:solidFill>
                  <a:srgbClr val="081C52"/>
                </a:solidFill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7811" y="3779392"/>
            <a:ext cx="3421379" cy="19672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solidFill>
                  <a:srgbClr val="1E2F62"/>
                </a:solidFill>
                <a:latin typeface="Century Gothic"/>
                <a:cs typeface="Century Gothic"/>
              </a:rPr>
              <a:t>Student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60">
                <a:solidFill>
                  <a:srgbClr val="1E2F62"/>
                </a:solidFill>
                <a:latin typeface="Century Gothic"/>
                <a:cs typeface="Century Gothic"/>
              </a:rPr>
              <a:t>Name: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1E2F62"/>
                </a:solidFill>
                <a:latin typeface="Century Gothic"/>
                <a:cs typeface="Century Gothic"/>
              </a:rPr>
              <a:t>Kishan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 Rathore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1100" spc="80">
                <a:solidFill>
                  <a:srgbClr val="1E2F62"/>
                </a:solidFill>
                <a:latin typeface="Century Gothic"/>
                <a:cs typeface="Century Gothic"/>
              </a:rPr>
              <a:t>ERP</a:t>
            </a:r>
            <a:r>
              <a:rPr dirty="0" sz="11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Number:</a:t>
            </a:r>
            <a:r>
              <a:rPr dirty="0" sz="110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50">
                <a:solidFill>
                  <a:srgbClr val="1E2F62"/>
                </a:solidFill>
                <a:latin typeface="Century Gothic"/>
                <a:cs typeface="Century Gothic"/>
              </a:rPr>
              <a:t>RU-</a:t>
            </a:r>
            <a:r>
              <a:rPr dirty="0" sz="1100">
                <a:solidFill>
                  <a:srgbClr val="1E2F62"/>
                </a:solidFill>
                <a:latin typeface="Century Gothic"/>
                <a:cs typeface="Century Gothic"/>
              </a:rPr>
              <a:t>25-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10687</a:t>
            </a:r>
            <a:endParaRPr sz="1100">
              <a:latin typeface="Century Gothic"/>
              <a:cs typeface="Century Gothic"/>
            </a:endParaRPr>
          </a:p>
          <a:p>
            <a:pPr marL="897255" marR="890269" indent="339725">
              <a:lnSpc>
                <a:spcPts val="2850"/>
              </a:lnSpc>
              <a:spcBef>
                <a:spcPts val="275"/>
              </a:spcBef>
            </a:pPr>
            <a:r>
              <a:rPr dirty="0" sz="1100" spc="-25">
                <a:solidFill>
                  <a:srgbClr val="1E2F62"/>
                </a:solidFill>
                <a:latin typeface="Century Gothic"/>
                <a:cs typeface="Century Gothic"/>
              </a:rPr>
              <a:t>Branch:</a:t>
            </a:r>
            <a:r>
              <a:rPr dirty="0" sz="11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AI/ML Subject:</a:t>
            </a:r>
            <a:r>
              <a:rPr dirty="0" sz="1100" spc="-6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80">
                <a:solidFill>
                  <a:srgbClr val="1E2F62"/>
                </a:solidFill>
                <a:latin typeface="Century Gothic"/>
                <a:cs typeface="Century Gothic"/>
              </a:rPr>
              <a:t>C</a:t>
            </a:r>
            <a:r>
              <a:rPr dirty="0" sz="110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Programming</a:t>
            </a: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dirty="0" sz="1100" spc="-45">
                <a:solidFill>
                  <a:srgbClr val="1E2F62"/>
                </a:solidFill>
                <a:latin typeface="Century Gothic"/>
                <a:cs typeface="Century Gothic"/>
              </a:rPr>
              <a:t>College</a:t>
            </a:r>
            <a:r>
              <a:rPr dirty="0" sz="110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60">
                <a:solidFill>
                  <a:srgbClr val="1E2F62"/>
                </a:solidFill>
                <a:latin typeface="Century Gothic"/>
                <a:cs typeface="Century Gothic"/>
              </a:rPr>
              <a:t>Name:</a:t>
            </a:r>
            <a:r>
              <a:rPr dirty="0" sz="110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25">
                <a:solidFill>
                  <a:srgbClr val="1E2F62"/>
                </a:solidFill>
                <a:latin typeface="Century Gothic"/>
                <a:cs typeface="Century Gothic"/>
              </a:rPr>
              <a:t>Rungta</a:t>
            </a:r>
            <a:r>
              <a:rPr dirty="0" sz="110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20">
                <a:solidFill>
                  <a:srgbClr val="1E2F62"/>
                </a:solidFill>
                <a:latin typeface="Century Gothic"/>
                <a:cs typeface="Century Gothic"/>
              </a:rPr>
              <a:t>International</a:t>
            </a:r>
            <a:r>
              <a:rPr dirty="0" sz="110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75">
                <a:solidFill>
                  <a:srgbClr val="1E2F62"/>
                </a:solidFill>
                <a:latin typeface="Century Gothic"/>
                <a:cs typeface="Century Gothic"/>
              </a:rPr>
              <a:t>Skills</a:t>
            </a:r>
            <a:r>
              <a:rPr dirty="0" sz="110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University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</a:pPr>
            <a:r>
              <a:rPr dirty="0" sz="1100" spc="-70">
                <a:solidFill>
                  <a:srgbClr val="1E2F62"/>
                </a:solidFill>
                <a:latin typeface="Century Gothic"/>
                <a:cs typeface="Century Gothic"/>
              </a:rPr>
              <a:t>Academic</a:t>
            </a:r>
            <a:r>
              <a:rPr dirty="0" sz="1100" spc="7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 spc="-40">
                <a:solidFill>
                  <a:srgbClr val="1E2F62"/>
                </a:solidFill>
                <a:latin typeface="Century Gothic"/>
                <a:cs typeface="Century Gothic"/>
              </a:rPr>
              <a:t>Year:</a:t>
            </a:r>
            <a:r>
              <a:rPr dirty="0" sz="1100" spc="7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00">
                <a:solidFill>
                  <a:srgbClr val="1E2F62"/>
                </a:solidFill>
                <a:latin typeface="Century Gothic"/>
                <a:cs typeface="Century Gothic"/>
              </a:rPr>
              <a:t>2025-</a:t>
            </a:r>
            <a:r>
              <a:rPr dirty="0" sz="1100" spc="-25">
                <a:solidFill>
                  <a:srgbClr val="1E2F62"/>
                </a:solidFill>
                <a:latin typeface="Century Gothic"/>
                <a:cs typeface="Century Gothic"/>
              </a:rPr>
              <a:t>29</a:t>
            </a:r>
            <a:endParaRPr sz="11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0" y="1047749"/>
            <a:ext cx="3092348" cy="3092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93716" y="653821"/>
            <a:ext cx="4592955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dirty="0" sz="2600" spc="130"/>
              <a:t>Introduction:</a:t>
            </a:r>
            <a:r>
              <a:rPr dirty="0" sz="2600" spc="-75"/>
              <a:t> </a:t>
            </a:r>
            <a:r>
              <a:rPr dirty="0" sz="2600" spc="180"/>
              <a:t>Automating</a:t>
            </a:r>
            <a:r>
              <a:rPr dirty="0" sz="2600" spc="-75"/>
              <a:t> </a:t>
            </a:r>
            <a:r>
              <a:rPr dirty="0" sz="2600" spc="155"/>
              <a:t>the </a:t>
            </a:r>
            <a:r>
              <a:rPr dirty="0" sz="2600" spc="175"/>
              <a:t>Culinary</a:t>
            </a:r>
            <a:r>
              <a:rPr dirty="0" sz="2600" spc="-70"/>
              <a:t> </a:t>
            </a:r>
            <a:r>
              <a:rPr dirty="0" sz="2600" spc="190"/>
              <a:t>Experience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4893716" y="1690273"/>
            <a:ext cx="571373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100"/>
              </a:spcBef>
            </a:pP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In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today's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fast-</a:t>
            </a:r>
            <a:r>
              <a:rPr dirty="0" sz="1050" spc="-75">
                <a:solidFill>
                  <a:srgbClr val="1E2F62"/>
                </a:solidFill>
                <a:latin typeface="Century Gothic"/>
                <a:cs typeface="Century Gothic"/>
              </a:rPr>
              <a:t>paced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world,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efficient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operations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65">
                <a:solidFill>
                  <a:srgbClr val="1E2F62"/>
                </a:solidFill>
                <a:latin typeface="Century Gothic"/>
                <a:cs typeface="Century Gothic"/>
              </a:rPr>
              <a:t>are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crucial.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Our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project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focuses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on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streamlining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process,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5">
                <a:solidFill>
                  <a:srgbClr val="1E2F62"/>
                </a:solidFill>
                <a:latin typeface="Century Gothic"/>
                <a:cs typeface="Century Gothic"/>
              </a:rPr>
              <a:t>enhancing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both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customer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service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9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5">
                <a:solidFill>
                  <a:srgbClr val="1E2F62"/>
                </a:solidFill>
                <a:latin typeface="Century Gothic"/>
                <a:cs typeface="Century Gothic"/>
              </a:rPr>
              <a:t>managerial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efficiency.</a:t>
            </a:r>
            <a:endParaRPr sz="105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86325" y="2305050"/>
            <a:ext cx="2905125" cy="1857375"/>
            <a:chOff x="4886325" y="2305050"/>
            <a:chExt cx="2905125" cy="1857375"/>
          </a:xfrm>
        </p:grpSpPr>
        <p:sp>
          <p:nvSpPr>
            <p:cNvPr id="6" name="object 6"/>
            <p:cNvSpPr/>
            <p:nvPr/>
          </p:nvSpPr>
          <p:spPr>
            <a:xfrm>
              <a:off x="4905375" y="2314575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79231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71650"/>
                  </a:lnTo>
                  <a:lnTo>
                    <a:pt x="0" y="1776031"/>
                  </a:lnTo>
                  <a:lnTo>
                    <a:pt x="15621" y="1812328"/>
                  </a:lnTo>
                  <a:lnTo>
                    <a:pt x="51663" y="1834921"/>
                  </a:lnTo>
                  <a:lnTo>
                    <a:pt x="71196" y="1838325"/>
                  </a:lnTo>
                  <a:lnTo>
                    <a:pt x="2792310" y="1838325"/>
                  </a:lnTo>
                  <a:lnTo>
                    <a:pt x="2831553" y="1826425"/>
                  </a:lnTo>
                  <a:lnTo>
                    <a:pt x="2864650" y="1793328"/>
                  </a:lnTo>
                  <a:lnTo>
                    <a:pt x="2876550" y="1754085"/>
                  </a:lnTo>
                  <a:lnTo>
                    <a:pt x="2876550" y="84226"/>
                  </a:lnTo>
                  <a:lnTo>
                    <a:pt x="2864650" y="44983"/>
                  </a:lnTo>
                  <a:lnTo>
                    <a:pt x="2831553" y="11899"/>
                  </a:lnTo>
                  <a:lnTo>
                    <a:pt x="2798178" y="571"/>
                  </a:lnTo>
                  <a:lnTo>
                    <a:pt x="2792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06213" y="2305062"/>
              <a:ext cx="2885440" cy="1857375"/>
            </a:xfrm>
            <a:custGeom>
              <a:avLst/>
              <a:gdLst/>
              <a:ahLst/>
              <a:cxnLst/>
              <a:rect l="l" t="t" r="r" b="b"/>
              <a:pathLst>
                <a:path w="2885440" h="1857375">
                  <a:moveTo>
                    <a:pt x="2885224" y="99682"/>
                  </a:moveTo>
                  <a:lnTo>
                    <a:pt x="2877629" y="61531"/>
                  </a:lnTo>
                  <a:lnTo>
                    <a:pt x="2856484" y="29692"/>
                  </a:lnTo>
                  <a:lnTo>
                    <a:pt x="2856026" y="29197"/>
                  </a:lnTo>
                  <a:lnTo>
                    <a:pt x="2848749" y="22580"/>
                  </a:lnTo>
                  <a:lnTo>
                    <a:pt x="2843987" y="19050"/>
                  </a:lnTo>
                  <a:lnTo>
                    <a:pt x="2804998" y="1892"/>
                  </a:lnTo>
                  <a:lnTo>
                    <a:pt x="2785541" y="0"/>
                  </a:lnTo>
                  <a:lnTo>
                    <a:pt x="75349" y="0"/>
                  </a:lnTo>
                  <a:lnTo>
                    <a:pt x="65532" y="469"/>
                  </a:lnTo>
                  <a:lnTo>
                    <a:pt x="67094" y="469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03" y="6162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66840" y="19431"/>
                  </a:lnTo>
                  <a:lnTo>
                    <a:pt x="64757" y="19431"/>
                  </a:lnTo>
                  <a:lnTo>
                    <a:pt x="75349" y="19050"/>
                  </a:lnTo>
                  <a:lnTo>
                    <a:pt x="2785541" y="19050"/>
                  </a:lnTo>
                  <a:lnTo>
                    <a:pt x="2823756" y="28663"/>
                  </a:lnTo>
                  <a:lnTo>
                    <a:pt x="2852610" y="54864"/>
                  </a:lnTo>
                  <a:lnTo>
                    <a:pt x="2865793" y="91732"/>
                  </a:lnTo>
                  <a:lnTo>
                    <a:pt x="2866174" y="99682"/>
                  </a:lnTo>
                  <a:lnTo>
                    <a:pt x="2866174" y="1757692"/>
                  </a:lnTo>
                  <a:lnTo>
                    <a:pt x="2856649" y="1795729"/>
                  </a:lnTo>
                  <a:lnTo>
                    <a:pt x="2843009" y="1814195"/>
                  </a:lnTo>
                  <a:lnTo>
                    <a:pt x="2842552" y="1814703"/>
                  </a:lnTo>
                  <a:lnTo>
                    <a:pt x="2808922" y="1834857"/>
                  </a:lnTo>
                  <a:lnTo>
                    <a:pt x="2792730" y="1838045"/>
                  </a:lnTo>
                  <a:lnTo>
                    <a:pt x="2791168" y="1838045"/>
                  </a:lnTo>
                  <a:lnTo>
                    <a:pt x="2785541" y="1838325"/>
                  </a:lnTo>
                  <a:lnTo>
                    <a:pt x="75349" y="1838325"/>
                  </a:lnTo>
                  <a:lnTo>
                    <a:pt x="67843" y="1838045"/>
                  </a:lnTo>
                  <a:lnTo>
                    <a:pt x="27038" y="1825371"/>
                  </a:lnTo>
                  <a:lnTo>
                    <a:pt x="1079" y="1796046"/>
                  </a:lnTo>
                  <a:lnTo>
                    <a:pt x="0" y="1791944"/>
                  </a:lnTo>
                  <a:lnTo>
                    <a:pt x="571" y="1795843"/>
                  </a:lnTo>
                  <a:lnTo>
                    <a:pt x="609" y="1796046"/>
                  </a:lnTo>
                  <a:lnTo>
                    <a:pt x="2413" y="1803247"/>
                  </a:lnTo>
                  <a:lnTo>
                    <a:pt x="4851" y="1810042"/>
                  </a:lnTo>
                  <a:lnTo>
                    <a:pt x="4953" y="1810334"/>
                  </a:lnTo>
                  <a:lnTo>
                    <a:pt x="33007" y="1844535"/>
                  </a:lnTo>
                  <a:lnTo>
                    <a:pt x="75349" y="1857375"/>
                  </a:lnTo>
                  <a:lnTo>
                    <a:pt x="2785541" y="1857375"/>
                  </a:lnTo>
                  <a:lnTo>
                    <a:pt x="2793047" y="1857006"/>
                  </a:lnTo>
                  <a:lnTo>
                    <a:pt x="2794609" y="1857006"/>
                  </a:lnTo>
                  <a:lnTo>
                    <a:pt x="2832582" y="1845576"/>
                  </a:lnTo>
                  <a:lnTo>
                    <a:pt x="2856484" y="1827669"/>
                  </a:lnTo>
                  <a:lnTo>
                    <a:pt x="2862643" y="1820887"/>
                  </a:lnTo>
                  <a:lnTo>
                    <a:pt x="2880957" y="1786585"/>
                  </a:lnTo>
                  <a:lnTo>
                    <a:pt x="2885224" y="1757692"/>
                  </a:lnTo>
                  <a:lnTo>
                    <a:pt x="2885224" y="99682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86325" y="2305050"/>
              <a:ext cx="76200" cy="1857375"/>
            </a:xfrm>
            <a:custGeom>
              <a:avLst/>
              <a:gdLst/>
              <a:ahLst/>
              <a:cxnLst/>
              <a:rect l="l" t="t" r="r" b="b"/>
              <a:pathLst>
                <a:path w="76200" h="1857375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781175"/>
                  </a:lnTo>
                  <a:lnTo>
                    <a:pt x="0" y="1786178"/>
                  </a:lnTo>
                  <a:lnTo>
                    <a:pt x="15621" y="1827669"/>
                  </a:lnTo>
                  <a:lnTo>
                    <a:pt x="51663" y="1853488"/>
                  </a:lnTo>
                  <a:lnTo>
                    <a:pt x="71196" y="1857375"/>
                  </a:lnTo>
                  <a:lnTo>
                    <a:pt x="76200" y="18573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102821" y="2430348"/>
            <a:ext cx="2302510" cy="156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56210">
              <a:lnSpc>
                <a:spcPct val="105800"/>
              </a:lnSpc>
              <a:spcBef>
                <a:spcPts val="95"/>
              </a:spcBef>
            </a:pPr>
            <a:r>
              <a:rPr dirty="0" sz="1300" spc="110" b="1">
                <a:solidFill>
                  <a:srgbClr val="1E2F62"/>
                </a:solidFill>
                <a:latin typeface="Calibri"/>
                <a:cs typeface="Calibri"/>
              </a:rPr>
              <a:t>What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0" b="1">
                <a:solidFill>
                  <a:srgbClr val="1E2F62"/>
                </a:solidFill>
                <a:latin typeface="Calibri"/>
                <a:cs typeface="Calibri"/>
              </a:rPr>
              <a:t>is</a:t>
            </a:r>
            <a:r>
              <a:rPr dirty="0" sz="1300" spc="-3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85" b="1">
                <a:solidFill>
                  <a:srgbClr val="1E2F62"/>
                </a:solidFill>
                <a:latin typeface="Calibri"/>
                <a:cs typeface="Calibri"/>
              </a:rPr>
              <a:t>a</a:t>
            </a:r>
            <a:r>
              <a:rPr dirty="0" sz="1300" spc="-3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5" b="1">
                <a:solidFill>
                  <a:srgbClr val="1E2F62"/>
                </a:solidFill>
                <a:latin typeface="Calibri"/>
                <a:cs typeface="Calibri"/>
              </a:rPr>
              <a:t>Restaurant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55" b="1">
                <a:solidFill>
                  <a:srgbClr val="1E2F62"/>
                </a:solidFill>
                <a:latin typeface="Calibri"/>
                <a:cs typeface="Calibri"/>
              </a:rPr>
              <a:t>Billing </a:t>
            </a:r>
            <a:r>
              <a:rPr dirty="0" sz="1300" spc="100" b="1">
                <a:solidFill>
                  <a:srgbClr val="1E2F62"/>
                </a:solidFill>
                <a:latin typeface="Calibri"/>
                <a:cs typeface="Calibri"/>
              </a:rPr>
              <a:t>System?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2400"/>
              </a:lnSpc>
              <a:spcBef>
                <a:spcPts val="459"/>
              </a:spcBef>
            </a:pP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software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application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designed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to </a:t>
            </a:r>
            <a:r>
              <a:rPr dirty="0" sz="1050" spc="-90">
                <a:solidFill>
                  <a:srgbClr val="1E2F62"/>
                </a:solidFill>
                <a:latin typeface="Century Gothic"/>
                <a:cs typeface="Century Gothic"/>
              </a:rPr>
              <a:t>manage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orders, </a:t>
            </a:r>
            <a:r>
              <a:rPr dirty="0" sz="1050" spc="-65">
                <a:solidFill>
                  <a:srgbClr val="1E2F62"/>
                </a:solidFill>
                <a:latin typeface="Century Gothic"/>
                <a:cs typeface="Century Gothic"/>
              </a:rPr>
              <a:t>calculate</a:t>
            </a:r>
            <a:r>
              <a:rPr dirty="0" sz="10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bills,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and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process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payments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in</a:t>
            </a:r>
            <a:r>
              <a:rPr dirty="0" sz="10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50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restaurant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setting.</a:t>
            </a:r>
            <a:r>
              <a:rPr dirty="0" sz="10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It</a:t>
            </a:r>
            <a:r>
              <a:rPr dirty="0" sz="10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replaces</a:t>
            </a:r>
            <a:r>
              <a:rPr dirty="0" sz="10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60">
                <a:solidFill>
                  <a:srgbClr val="1E2F62"/>
                </a:solidFill>
                <a:latin typeface="Century Gothic"/>
                <a:cs typeface="Century Gothic"/>
              </a:rPr>
              <a:t>manual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 processes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with</a:t>
            </a:r>
            <a:r>
              <a:rPr dirty="0" sz="10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digital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efficiency.</a:t>
            </a:r>
            <a:endParaRPr sz="10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05750" y="2305050"/>
            <a:ext cx="2905125" cy="1857375"/>
            <a:chOff x="7905750" y="2305050"/>
            <a:chExt cx="2905125" cy="1857375"/>
          </a:xfrm>
        </p:grpSpPr>
        <p:sp>
          <p:nvSpPr>
            <p:cNvPr id="11" name="object 11"/>
            <p:cNvSpPr/>
            <p:nvPr/>
          </p:nvSpPr>
          <p:spPr>
            <a:xfrm>
              <a:off x="7924800" y="2314575"/>
              <a:ext cx="2876550" cy="1838325"/>
            </a:xfrm>
            <a:custGeom>
              <a:avLst/>
              <a:gdLst/>
              <a:ahLst/>
              <a:cxnLst/>
              <a:rect l="l" t="t" r="r" b="b"/>
              <a:pathLst>
                <a:path w="2876550" h="1838325">
                  <a:moveTo>
                    <a:pt x="279231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771650"/>
                  </a:lnTo>
                  <a:lnTo>
                    <a:pt x="0" y="1776031"/>
                  </a:lnTo>
                  <a:lnTo>
                    <a:pt x="15621" y="1812328"/>
                  </a:lnTo>
                  <a:lnTo>
                    <a:pt x="51663" y="1834921"/>
                  </a:lnTo>
                  <a:lnTo>
                    <a:pt x="71196" y="1838325"/>
                  </a:lnTo>
                  <a:lnTo>
                    <a:pt x="2792310" y="1838325"/>
                  </a:lnTo>
                  <a:lnTo>
                    <a:pt x="2831553" y="1826425"/>
                  </a:lnTo>
                  <a:lnTo>
                    <a:pt x="2864650" y="1793328"/>
                  </a:lnTo>
                  <a:lnTo>
                    <a:pt x="2876550" y="1754085"/>
                  </a:lnTo>
                  <a:lnTo>
                    <a:pt x="2876550" y="84226"/>
                  </a:lnTo>
                  <a:lnTo>
                    <a:pt x="2864650" y="44983"/>
                  </a:lnTo>
                  <a:lnTo>
                    <a:pt x="2831553" y="11899"/>
                  </a:lnTo>
                  <a:lnTo>
                    <a:pt x="2798178" y="571"/>
                  </a:lnTo>
                  <a:lnTo>
                    <a:pt x="2792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925638" y="2305062"/>
              <a:ext cx="2885440" cy="1857375"/>
            </a:xfrm>
            <a:custGeom>
              <a:avLst/>
              <a:gdLst/>
              <a:ahLst/>
              <a:cxnLst/>
              <a:rect l="l" t="t" r="r" b="b"/>
              <a:pathLst>
                <a:path w="2885440" h="1857375">
                  <a:moveTo>
                    <a:pt x="2885224" y="99682"/>
                  </a:moveTo>
                  <a:lnTo>
                    <a:pt x="2877629" y="61531"/>
                  </a:lnTo>
                  <a:lnTo>
                    <a:pt x="2856484" y="29692"/>
                  </a:lnTo>
                  <a:lnTo>
                    <a:pt x="2856026" y="29197"/>
                  </a:lnTo>
                  <a:lnTo>
                    <a:pt x="2848749" y="22580"/>
                  </a:lnTo>
                  <a:lnTo>
                    <a:pt x="2843987" y="19050"/>
                  </a:lnTo>
                  <a:lnTo>
                    <a:pt x="2804998" y="1892"/>
                  </a:lnTo>
                  <a:lnTo>
                    <a:pt x="2785541" y="0"/>
                  </a:lnTo>
                  <a:lnTo>
                    <a:pt x="75349" y="0"/>
                  </a:lnTo>
                  <a:lnTo>
                    <a:pt x="65532" y="469"/>
                  </a:lnTo>
                  <a:lnTo>
                    <a:pt x="67094" y="469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03" y="6162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66840" y="19431"/>
                  </a:lnTo>
                  <a:lnTo>
                    <a:pt x="64757" y="19431"/>
                  </a:lnTo>
                  <a:lnTo>
                    <a:pt x="75349" y="19050"/>
                  </a:lnTo>
                  <a:lnTo>
                    <a:pt x="2785541" y="19050"/>
                  </a:lnTo>
                  <a:lnTo>
                    <a:pt x="2823756" y="28663"/>
                  </a:lnTo>
                  <a:lnTo>
                    <a:pt x="2852610" y="54864"/>
                  </a:lnTo>
                  <a:lnTo>
                    <a:pt x="2865793" y="91732"/>
                  </a:lnTo>
                  <a:lnTo>
                    <a:pt x="2866174" y="99682"/>
                  </a:lnTo>
                  <a:lnTo>
                    <a:pt x="2866174" y="1757692"/>
                  </a:lnTo>
                  <a:lnTo>
                    <a:pt x="2856649" y="1795729"/>
                  </a:lnTo>
                  <a:lnTo>
                    <a:pt x="2843009" y="1814195"/>
                  </a:lnTo>
                  <a:lnTo>
                    <a:pt x="2842552" y="1814703"/>
                  </a:lnTo>
                  <a:lnTo>
                    <a:pt x="2808922" y="1834857"/>
                  </a:lnTo>
                  <a:lnTo>
                    <a:pt x="2792730" y="1838045"/>
                  </a:lnTo>
                  <a:lnTo>
                    <a:pt x="2791168" y="1838045"/>
                  </a:lnTo>
                  <a:lnTo>
                    <a:pt x="2785541" y="1838325"/>
                  </a:lnTo>
                  <a:lnTo>
                    <a:pt x="75349" y="1838325"/>
                  </a:lnTo>
                  <a:lnTo>
                    <a:pt x="67843" y="1838045"/>
                  </a:lnTo>
                  <a:lnTo>
                    <a:pt x="27038" y="1825371"/>
                  </a:lnTo>
                  <a:lnTo>
                    <a:pt x="1079" y="1796046"/>
                  </a:lnTo>
                  <a:lnTo>
                    <a:pt x="0" y="1791944"/>
                  </a:lnTo>
                  <a:lnTo>
                    <a:pt x="571" y="1795843"/>
                  </a:lnTo>
                  <a:lnTo>
                    <a:pt x="609" y="1796046"/>
                  </a:lnTo>
                  <a:lnTo>
                    <a:pt x="2413" y="1803247"/>
                  </a:lnTo>
                  <a:lnTo>
                    <a:pt x="4851" y="1810042"/>
                  </a:lnTo>
                  <a:lnTo>
                    <a:pt x="4953" y="1810334"/>
                  </a:lnTo>
                  <a:lnTo>
                    <a:pt x="33007" y="1844535"/>
                  </a:lnTo>
                  <a:lnTo>
                    <a:pt x="75349" y="1857375"/>
                  </a:lnTo>
                  <a:lnTo>
                    <a:pt x="2785541" y="1857375"/>
                  </a:lnTo>
                  <a:lnTo>
                    <a:pt x="2793047" y="1857006"/>
                  </a:lnTo>
                  <a:lnTo>
                    <a:pt x="2794609" y="1857006"/>
                  </a:lnTo>
                  <a:lnTo>
                    <a:pt x="2832582" y="1845576"/>
                  </a:lnTo>
                  <a:lnTo>
                    <a:pt x="2856484" y="1827669"/>
                  </a:lnTo>
                  <a:lnTo>
                    <a:pt x="2862643" y="1820887"/>
                  </a:lnTo>
                  <a:lnTo>
                    <a:pt x="2880957" y="1786585"/>
                  </a:lnTo>
                  <a:lnTo>
                    <a:pt x="2885224" y="1757692"/>
                  </a:lnTo>
                  <a:lnTo>
                    <a:pt x="2885224" y="99682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905750" y="2305050"/>
              <a:ext cx="76200" cy="1857375"/>
            </a:xfrm>
            <a:custGeom>
              <a:avLst/>
              <a:gdLst/>
              <a:ahLst/>
              <a:cxnLst/>
              <a:rect l="l" t="t" r="r" b="b"/>
              <a:pathLst>
                <a:path w="76200" h="1857375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781175"/>
                  </a:lnTo>
                  <a:lnTo>
                    <a:pt x="0" y="1786178"/>
                  </a:lnTo>
                  <a:lnTo>
                    <a:pt x="15621" y="1827669"/>
                  </a:lnTo>
                  <a:lnTo>
                    <a:pt x="51663" y="1853488"/>
                  </a:lnTo>
                  <a:lnTo>
                    <a:pt x="71196" y="1857375"/>
                  </a:lnTo>
                  <a:lnTo>
                    <a:pt x="76200" y="18573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120900" y="2440558"/>
            <a:ext cx="2458085" cy="1132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30" b="1">
                <a:solidFill>
                  <a:srgbClr val="1E2F62"/>
                </a:solidFill>
                <a:latin typeface="Calibri"/>
                <a:cs typeface="Calibri"/>
              </a:rPr>
              <a:t>Why</a:t>
            </a:r>
            <a:r>
              <a:rPr dirty="0" sz="1300" spc="-4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5" b="1">
                <a:solidFill>
                  <a:srgbClr val="1E2F62"/>
                </a:solidFill>
                <a:latin typeface="Calibri"/>
                <a:cs typeface="Calibri"/>
              </a:rPr>
              <a:t>Automation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0" b="1">
                <a:solidFill>
                  <a:srgbClr val="1E2F62"/>
                </a:solidFill>
                <a:latin typeface="Calibri"/>
                <a:cs typeface="Calibri"/>
              </a:rPr>
              <a:t>is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95" b="1">
                <a:solidFill>
                  <a:srgbClr val="1E2F62"/>
                </a:solidFill>
                <a:latin typeface="Calibri"/>
                <a:cs typeface="Calibri"/>
              </a:rPr>
              <a:t>Needed?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2900"/>
              </a:lnSpc>
              <a:spcBef>
                <a:spcPts val="450"/>
              </a:spcBef>
            </a:pP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Automation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reduces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human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error, 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speeds </a:t>
            </a:r>
            <a:r>
              <a:rPr dirty="0" sz="1050" spc="-55">
                <a:solidFill>
                  <a:srgbClr val="1E2F62"/>
                </a:solidFill>
                <a:latin typeface="Century Gothic"/>
                <a:cs typeface="Century Gothic"/>
              </a:rPr>
              <a:t>up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service,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65">
                <a:solidFill>
                  <a:srgbClr val="1E2F62"/>
                </a:solidFill>
                <a:latin typeface="Century Gothic"/>
                <a:cs typeface="Century Gothic"/>
              </a:rPr>
              <a:t>manages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inventory, </a:t>
            </a:r>
            <a:r>
              <a:rPr dirty="0" sz="1050" spc="-9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provides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75">
                <a:solidFill>
                  <a:srgbClr val="1E2F62"/>
                </a:solidFill>
                <a:latin typeface="Century Gothic"/>
                <a:cs typeface="Century Gothic"/>
              </a:rPr>
              <a:t>accurate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financial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records. </a:t>
            </a:r>
            <a:r>
              <a:rPr dirty="0" sz="1050" spc="-70">
                <a:solidFill>
                  <a:srgbClr val="1E2F62"/>
                </a:solidFill>
                <a:latin typeface="Century Gothic"/>
                <a:cs typeface="Century Gothic"/>
              </a:rPr>
              <a:t>It9s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essential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modern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business.</a:t>
            </a:r>
            <a:endParaRPr sz="105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6325" y="4295775"/>
            <a:ext cx="2905125" cy="1447800"/>
            <a:chOff x="4886325" y="4295775"/>
            <a:chExt cx="2905125" cy="1447800"/>
          </a:xfrm>
        </p:grpSpPr>
        <p:sp>
          <p:nvSpPr>
            <p:cNvPr id="16" name="object 16"/>
            <p:cNvSpPr/>
            <p:nvPr/>
          </p:nvSpPr>
          <p:spPr>
            <a:xfrm>
              <a:off x="4905375" y="4305300"/>
              <a:ext cx="2876550" cy="1428750"/>
            </a:xfrm>
            <a:custGeom>
              <a:avLst/>
              <a:gdLst/>
              <a:ahLst/>
              <a:cxnLst/>
              <a:rect l="l" t="t" r="r" b="b"/>
              <a:pathLst>
                <a:path w="2876550" h="1428750">
                  <a:moveTo>
                    <a:pt x="279231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362076"/>
                  </a:lnTo>
                  <a:lnTo>
                    <a:pt x="0" y="1366451"/>
                  </a:lnTo>
                  <a:lnTo>
                    <a:pt x="15621" y="1402755"/>
                  </a:lnTo>
                  <a:lnTo>
                    <a:pt x="51663" y="1425347"/>
                  </a:lnTo>
                  <a:lnTo>
                    <a:pt x="71196" y="1428746"/>
                  </a:lnTo>
                  <a:lnTo>
                    <a:pt x="2792310" y="1428746"/>
                  </a:lnTo>
                  <a:lnTo>
                    <a:pt x="2831553" y="1416845"/>
                  </a:lnTo>
                  <a:lnTo>
                    <a:pt x="2864650" y="1383760"/>
                  </a:lnTo>
                  <a:lnTo>
                    <a:pt x="2876550" y="1344514"/>
                  </a:lnTo>
                  <a:lnTo>
                    <a:pt x="2876550" y="84226"/>
                  </a:lnTo>
                  <a:lnTo>
                    <a:pt x="2864650" y="44983"/>
                  </a:lnTo>
                  <a:lnTo>
                    <a:pt x="2831553" y="11899"/>
                  </a:lnTo>
                  <a:lnTo>
                    <a:pt x="2798178" y="571"/>
                  </a:lnTo>
                  <a:lnTo>
                    <a:pt x="2792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06213" y="4295787"/>
              <a:ext cx="2885440" cy="1447800"/>
            </a:xfrm>
            <a:custGeom>
              <a:avLst/>
              <a:gdLst/>
              <a:ahLst/>
              <a:cxnLst/>
              <a:rect l="l" t="t" r="r" b="b"/>
              <a:pathLst>
                <a:path w="2885440" h="1447800">
                  <a:moveTo>
                    <a:pt x="2885224" y="99682"/>
                  </a:moveTo>
                  <a:lnTo>
                    <a:pt x="2877629" y="61531"/>
                  </a:lnTo>
                  <a:lnTo>
                    <a:pt x="2856484" y="29692"/>
                  </a:lnTo>
                  <a:lnTo>
                    <a:pt x="2856026" y="29197"/>
                  </a:lnTo>
                  <a:lnTo>
                    <a:pt x="2848749" y="22580"/>
                  </a:lnTo>
                  <a:lnTo>
                    <a:pt x="2843987" y="19050"/>
                  </a:lnTo>
                  <a:lnTo>
                    <a:pt x="2804998" y="1892"/>
                  </a:lnTo>
                  <a:lnTo>
                    <a:pt x="2785541" y="0"/>
                  </a:lnTo>
                  <a:lnTo>
                    <a:pt x="75349" y="0"/>
                  </a:lnTo>
                  <a:lnTo>
                    <a:pt x="65532" y="469"/>
                  </a:lnTo>
                  <a:lnTo>
                    <a:pt x="67094" y="469"/>
                  </a:lnTo>
                  <a:lnTo>
                    <a:pt x="60490" y="1447"/>
                  </a:lnTo>
                  <a:lnTo>
                    <a:pt x="21463" y="22313"/>
                  </a:lnTo>
                  <a:lnTo>
                    <a:pt x="609" y="61328"/>
                  </a:lnTo>
                  <a:lnTo>
                    <a:pt x="0" y="65430"/>
                  </a:lnTo>
                  <a:lnTo>
                    <a:pt x="1003" y="6162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66840" y="19431"/>
                  </a:lnTo>
                  <a:lnTo>
                    <a:pt x="64757" y="19431"/>
                  </a:lnTo>
                  <a:lnTo>
                    <a:pt x="75349" y="19050"/>
                  </a:lnTo>
                  <a:lnTo>
                    <a:pt x="2785541" y="19050"/>
                  </a:lnTo>
                  <a:lnTo>
                    <a:pt x="2823743" y="28663"/>
                  </a:lnTo>
                  <a:lnTo>
                    <a:pt x="2852610" y="54864"/>
                  </a:lnTo>
                  <a:lnTo>
                    <a:pt x="2865793" y="91732"/>
                  </a:lnTo>
                  <a:lnTo>
                    <a:pt x="2866174" y="99682"/>
                  </a:lnTo>
                  <a:lnTo>
                    <a:pt x="2866174" y="1348117"/>
                  </a:lnTo>
                  <a:lnTo>
                    <a:pt x="2856649" y="1386154"/>
                  </a:lnTo>
                  <a:lnTo>
                    <a:pt x="2843009" y="1404620"/>
                  </a:lnTo>
                  <a:lnTo>
                    <a:pt x="2842552" y="1405128"/>
                  </a:lnTo>
                  <a:lnTo>
                    <a:pt x="2808922" y="1425282"/>
                  </a:lnTo>
                  <a:lnTo>
                    <a:pt x="2792730" y="1428470"/>
                  </a:lnTo>
                  <a:lnTo>
                    <a:pt x="2791180" y="1428470"/>
                  </a:lnTo>
                  <a:lnTo>
                    <a:pt x="2785541" y="1428750"/>
                  </a:lnTo>
                  <a:lnTo>
                    <a:pt x="75349" y="1428750"/>
                  </a:lnTo>
                  <a:lnTo>
                    <a:pt x="67843" y="1428470"/>
                  </a:lnTo>
                  <a:lnTo>
                    <a:pt x="27038" y="1415796"/>
                  </a:lnTo>
                  <a:lnTo>
                    <a:pt x="1079" y="1386459"/>
                  </a:lnTo>
                  <a:lnTo>
                    <a:pt x="0" y="1382356"/>
                  </a:lnTo>
                  <a:lnTo>
                    <a:pt x="571" y="1386255"/>
                  </a:lnTo>
                  <a:lnTo>
                    <a:pt x="609" y="1386459"/>
                  </a:lnTo>
                  <a:lnTo>
                    <a:pt x="2413" y="1393685"/>
                  </a:lnTo>
                  <a:lnTo>
                    <a:pt x="4851" y="1400467"/>
                  </a:lnTo>
                  <a:lnTo>
                    <a:pt x="4953" y="1400759"/>
                  </a:lnTo>
                  <a:lnTo>
                    <a:pt x="33007" y="1434960"/>
                  </a:lnTo>
                  <a:lnTo>
                    <a:pt x="75349" y="1447800"/>
                  </a:lnTo>
                  <a:lnTo>
                    <a:pt x="2785541" y="1447800"/>
                  </a:lnTo>
                  <a:lnTo>
                    <a:pt x="2793060" y="1447431"/>
                  </a:lnTo>
                  <a:lnTo>
                    <a:pt x="2794609" y="1447431"/>
                  </a:lnTo>
                  <a:lnTo>
                    <a:pt x="2832582" y="1436014"/>
                  </a:lnTo>
                  <a:lnTo>
                    <a:pt x="2856014" y="1418602"/>
                  </a:lnTo>
                  <a:lnTo>
                    <a:pt x="2856484" y="1418094"/>
                  </a:lnTo>
                  <a:lnTo>
                    <a:pt x="2862643" y="1411312"/>
                  </a:lnTo>
                  <a:lnTo>
                    <a:pt x="2880957" y="1377010"/>
                  </a:lnTo>
                  <a:lnTo>
                    <a:pt x="2885224" y="1348117"/>
                  </a:lnTo>
                  <a:lnTo>
                    <a:pt x="2885224" y="99682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86325" y="4295775"/>
              <a:ext cx="76200" cy="1447800"/>
            </a:xfrm>
            <a:custGeom>
              <a:avLst/>
              <a:gdLst/>
              <a:ahLst/>
              <a:cxnLst/>
              <a:rect l="l" t="t" r="r" b="b"/>
              <a:pathLst>
                <a:path w="76200" h="14478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371601"/>
                  </a:lnTo>
                  <a:lnTo>
                    <a:pt x="0" y="1376601"/>
                  </a:lnTo>
                  <a:lnTo>
                    <a:pt x="15621" y="1418094"/>
                  </a:lnTo>
                  <a:lnTo>
                    <a:pt x="51663" y="1443911"/>
                  </a:lnTo>
                  <a:lnTo>
                    <a:pt x="76200" y="14478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102821" y="4431284"/>
            <a:ext cx="2476500" cy="11328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00" b="1">
                <a:solidFill>
                  <a:srgbClr val="1E2F62"/>
                </a:solidFill>
                <a:latin typeface="Calibri"/>
                <a:cs typeface="Calibri"/>
              </a:rPr>
              <a:t>Purpose</a:t>
            </a:r>
            <a:r>
              <a:rPr dirty="0" sz="1300" spc="-4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65" b="1">
                <a:solidFill>
                  <a:srgbClr val="1E2F62"/>
                </a:solidFill>
                <a:latin typeface="Calibri"/>
                <a:cs typeface="Calibri"/>
              </a:rPr>
              <a:t>of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5" b="1">
                <a:solidFill>
                  <a:srgbClr val="1E2F62"/>
                </a:solidFill>
                <a:latin typeface="Calibri"/>
                <a:cs typeface="Calibri"/>
              </a:rPr>
              <a:t>this</a:t>
            </a:r>
            <a:r>
              <a:rPr dirty="0" sz="13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300" spc="75" b="1">
                <a:solidFill>
                  <a:srgbClr val="1E2F62"/>
                </a:solidFill>
                <a:latin typeface="Calibri"/>
                <a:cs typeface="Calibri"/>
              </a:rPr>
              <a:t>Project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32900"/>
              </a:lnSpc>
              <a:spcBef>
                <a:spcPts val="450"/>
              </a:spcBef>
            </a:pP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75">
                <a:solidFill>
                  <a:srgbClr val="1E2F62"/>
                </a:solidFill>
                <a:latin typeface="Century Gothic"/>
                <a:cs typeface="Century Gothic"/>
              </a:rPr>
              <a:t>develop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50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robust,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user-friendly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billing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using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85">
                <a:solidFill>
                  <a:srgbClr val="1E2F62"/>
                </a:solidFill>
                <a:latin typeface="Century Gothic"/>
                <a:cs typeface="Century Gothic"/>
              </a:rPr>
              <a:t>C,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5">
                <a:solidFill>
                  <a:srgbClr val="1E2F62"/>
                </a:solidFill>
                <a:latin typeface="Century Gothic"/>
                <a:cs typeface="Century Gothic"/>
              </a:rPr>
              <a:t>demonstrating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20">
                <a:solidFill>
                  <a:srgbClr val="1E2F62"/>
                </a:solidFill>
                <a:latin typeface="Century Gothic"/>
                <a:cs typeface="Century Gothic"/>
              </a:rPr>
              <a:t>core 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programming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concepts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9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practical </a:t>
            </a:r>
            <a:r>
              <a:rPr dirty="0" sz="1050" spc="-50">
                <a:solidFill>
                  <a:srgbClr val="1E2F62"/>
                </a:solidFill>
                <a:latin typeface="Century Gothic"/>
                <a:cs typeface="Century Gothic"/>
              </a:rPr>
              <a:t>application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>
                <a:solidFill>
                  <a:srgbClr val="1E2F62"/>
                </a:solidFill>
                <a:latin typeface="Century Gothic"/>
                <a:cs typeface="Century Gothic"/>
              </a:rPr>
              <a:t>in</a:t>
            </a:r>
            <a:r>
              <a:rPr dirty="0" sz="10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50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0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real-</a:t>
            </a:r>
            <a:r>
              <a:rPr dirty="0" sz="1050" spc="-30">
                <a:solidFill>
                  <a:srgbClr val="1E2F62"/>
                </a:solidFill>
                <a:latin typeface="Century Gothic"/>
                <a:cs typeface="Century Gothic"/>
              </a:rPr>
              <a:t>world</a:t>
            </a:r>
            <a:r>
              <a:rPr dirty="0" sz="10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050" spc="-10">
                <a:solidFill>
                  <a:srgbClr val="1E2F62"/>
                </a:solidFill>
                <a:latin typeface="Century Gothic"/>
                <a:cs typeface="Century Gothic"/>
              </a:rPr>
              <a:t>scenario.</a:t>
            </a:r>
            <a:endParaRPr sz="10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4538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90"/>
              </a:spcBef>
            </a:pPr>
            <a:r>
              <a:rPr dirty="0" sz="2450" spc="210"/>
              <a:t>Core</a:t>
            </a:r>
            <a:r>
              <a:rPr dirty="0" sz="2450" spc="-65"/>
              <a:t> </a:t>
            </a:r>
            <a:r>
              <a:rPr dirty="0" sz="2450" spc="135"/>
              <a:t>Objectives:</a:t>
            </a:r>
            <a:r>
              <a:rPr dirty="0" sz="2450" spc="-65"/>
              <a:t> </a:t>
            </a:r>
            <a:r>
              <a:rPr dirty="0" sz="2450" spc="175"/>
              <a:t>Crafting</a:t>
            </a:r>
            <a:r>
              <a:rPr dirty="0" sz="2450" spc="-65"/>
              <a:t> </a:t>
            </a:r>
            <a:r>
              <a:rPr dirty="0" sz="2450" spc="145"/>
              <a:t>a</a:t>
            </a:r>
            <a:r>
              <a:rPr dirty="0" sz="2450" spc="-60"/>
              <a:t> </a:t>
            </a:r>
            <a:r>
              <a:rPr dirty="0" sz="2450" spc="195"/>
              <a:t>Seamless</a:t>
            </a:r>
            <a:r>
              <a:rPr dirty="0" sz="2450" spc="-65"/>
              <a:t> </a:t>
            </a:r>
            <a:r>
              <a:rPr dirty="0" sz="2450" spc="114"/>
              <a:t>Billing</a:t>
            </a:r>
            <a:r>
              <a:rPr dirty="0" sz="2450" spc="-65"/>
              <a:t> </a:t>
            </a:r>
            <a:r>
              <a:rPr dirty="0" sz="2450" spc="120"/>
              <a:t>Flow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607466" y="1263459"/>
            <a:ext cx="80092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Our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70">
                <a:solidFill>
                  <a:srgbClr val="1E2F62"/>
                </a:solidFill>
                <a:latin typeface="Century Gothic"/>
                <a:cs typeface="Century Gothic"/>
              </a:rPr>
              <a:t>is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meticulously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designed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handle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critical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aspects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of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billing,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ensuring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accuracy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efficiency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from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order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9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payment.</a:t>
            </a:r>
            <a:endParaRPr sz="95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" y="1600199"/>
            <a:ext cx="495300" cy="742950"/>
          </a:xfrm>
          <a:custGeom>
            <a:avLst/>
            <a:gdLst/>
            <a:ahLst/>
            <a:cxnLst/>
            <a:rect l="l" t="t" r="r" b="b"/>
            <a:pathLst>
              <a:path w="495300" h="742950">
                <a:moveTo>
                  <a:pt x="255761" y="0"/>
                </a:moveTo>
                <a:lnTo>
                  <a:pt x="239538" y="0"/>
                </a:lnTo>
                <a:lnTo>
                  <a:pt x="231447" y="393"/>
                </a:lnTo>
                <a:lnTo>
                  <a:pt x="191382" y="6337"/>
                </a:lnTo>
                <a:lnTo>
                  <a:pt x="145385" y="21958"/>
                </a:lnTo>
                <a:lnTo>
                  <a:pt x="103320" y="46240"/>
                </a:lnTo>
                <a:lnTo>
                  <a:pt x="66799" y="78270"/>
                </a:lnTo>
                <a:lnTo>
                  <a:pt x="37231" y="116801"/>
                </a:lnTo>
                <a:lnTo>
                  <a:pt x="15745" y="160375"/>
                </a:lnTo>
                <a:lnTo>
                  <a:pt x="3175" y="207289"/>
                </a:lnTo>
                <a:lnTo>
                  <a:pt x="0" y="239534"/>
                </a:lnTo>
                <a:lnTo>
                  <a:pt x="0" y="495300"/>
                </a:lnTo>
                <a:lnTo>
                  <a:pt x="0" y="503415"/>
                </a:lnTo>
                <a:lnTo>
                  <a:pt x="6339" y="551573"/>
                </a:lnTo>
                <a:lnTo>
                  <a:pt x="21957" y="597560"/>
                </a:lnTo>
                <a:lnTo>
                  <a:pt x="46240" y="639635"/>
                </a:lnTo>
                <a:lnTo>
                  <a:pt x="78268" y="676148"/>
                </a:lnTo>
                <a:lnTo>
                  <a:pt x="116805" y="705713"/>
                </a:lnTo>
                <a:lnTo>
                  <a:pt x="160371" y="727202"/>
                </a:lnTo>
                <a:lnTo>
                  <a:pt x="207293" y="739775"/>
                </a:lnTo>
                <a:lnTo>
                  <a:pt x="239538" y="742950"/>
                </a:lnTo>
                <a:lnTo>
                  <a:pt x="255761" y="742950"/>
                </a:lnTo>
                <a:lnTo>
                  <a:pt x="303917" y="736600"/>
                </a:lnTo>
                <a:lnTo>
                  <a:pt x="349914" y="720991"/>
                </a:lnTo>
                <a:lnTo>
                  <a:pt x="391979" y="696709"/>
                </a:lnTo>
                <a:lnTo>
                  <a:pt x="428500" y="664679"/>
                </a:lnTo>
                <a:lnTo>
                  <a:pt x="458068" y="626135"/>
                </a:lnTo>
                <a:lnTo>
                  <a:pt x="479554" y="582574"/>
                </a:lnTo>
                <a:lnTo>
                  <a:pt x="492125" y="535660"/>
                </a:lnTo>
                <a:lnTo>
                  <a:pt x="495300" y="503415"/>
                </a:lnTo>
                <a:lnTo>
                  <a:pt x="495300" y="239534"/>
                </a:lnTo>
                <a:lnTo>
                  <a:pt x="488960" y="191376"/>
                </a:lnTo>
                <a:lnTo>
                  <a:pt x="473342" y="145389"/>
                </a:lnTo>
                <a:lnTo>
                  <a:pt x="449059" y="103314"/>
                </a:lnTo>
                <a:lnTo>
                  <a:pt x="417031" y="66802"/>
                </a:lnTo>
                <a:lnTo>
                  <a:pt x="378494" y="37223"/>
                </a:lnTo>
                <a:lnTo>
                  <a:pt x="334928" y="15748"/>
                </a:lnTo>
                <a:lnTo>
                  <a:pt x="288006" y="3175"/>
                </a:lnTo>
                <a:lnTo>
                  <a:pt x="263852" y="393"/>
                </a:lnTo>
                <a:lnTo>
                  <a:pt x="255761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9391" y="1830095"/>
            <a:ext cx="97790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125" b="1">
                <a:solidFill>
                  <a:srgbClr val="1E2F62"/>
                </a:solidFill>
                <a:latin typeface="Calibri"/>
                <a:cs typeface="Calibri"/>
              </a:rPr>
              <a:t>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7480" y="1708759"/>
            <a:ext cx="5523865" cy="462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105" b="1">
                <a:solidFill>
                  <a:srgbClr val="1E2F62"/>
                </a:solidFill>
                <a:latin typeface="Calibri"/>
                <a:cs typeface="Calibri"/>
              </a:rPr>
              <a:t>Dynamic</a:t>
            </a:r>
            <a:r>
              <a:rPr dirty="0" sz="120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70" b="1">
                <a:solidFill>
                  <a:srgbClr val="1E2F62"/>
                </a:solidFill>
                <a:latin typeface="Calibri"/>
                <a:cs typeface="Calibri"/>
              </a:rPr>
              <a:t>Menu</a:t>
            </a:r>
            <a:r>
              <a:rPr dirty="0" sz="120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1E2F62"/>
                </a:solidFill>
                <a:latin typeface="Calibri"/>
                <a:cs typeface="Calibri"/>
              </a:rPr>
              <a:t>Display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Present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2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clear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organised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0">
                <a:solidFill>
                  <a:srgbClr val="1E2F62"/>
                </a:solidFill>
                <a:latin typeface="Century Gothic"/>
                <a:cs typeface="Century Gothic"/>
              </a:rPr>
              <a:t>food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menu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with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corresponding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prices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easy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customer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selection.</a:t>
            </a:r>
            <a:endParaRPr sz="95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125" y="2466975"/>
            <a:ext cx="495300" cy="742950"/>
          </a:xfrm>
          <a:custGeom>
            <a:avLst/>
            <a:gdLst/>
            <a:ahLst/>
            <a:cxnLst/>
            <a:rect l="l" t="t" r="r" b="b"/>
            <a:pathLst>
              <a:path w="495300" h="742950">
                <a:moveTo>
                  <a:pt x="255761" y="0"/>
                </a:moveTo>
                <a:lnTo>
                  <a:pt x="239538" y="0"/>
                </a:lnTo>
                <a:lnTo>
                  <a:pt x="231447" y="393"/>
                </a:lnTo>
                <a:lnTo>
                  <a:pt x="191382" y="6337"/>
                </a:lnTo>
                <a:lnTo>
                  <a:pt x="145385" y="21958"/>
                </a:lnTo>
                <a:lnTo>
                  <a:pt x="103320" y="46240"/>
                </a:lnTo>
                <a:lnTo>
                  <a:pt x="66799" y="78270"/>
                </a:lnTo>
                <a:lnTo>
                  <a:pt x="37231" y="116801"/>
                </a:lnTo>
                <a:lnTo>
                  <a:pt x="15745" y="160375"/>
                </a:lnTo>
                <a:lnTo>
                  <a:pt x="3175" y="207289"/>
                </a:lnTo>
                <a:lnTo>
                  <a:pt x="0" y="239534"/>
                </a:lnTo>
                <a:lnTo>
                  <a:pt x="0" y="495300"/>
                </a:lnTo>
                <a:lnTo>
                  <a:pt x="0" y="503415"/>
                </a:lnTo>
                <a:lnTo>
                  <a:pt x="6339" y="551573"/>
                </a:lnTo>
                <a:lnTo>
                  <a:pt x="21957" y="597560"/>
                </a:lnTo>
                <a:lnTo>
                  <a:pt x="46240" y="639635"/>
                </a:lnTo>
                <a:lnTo>
                  <a:pt x="78268" y="676148"/>
                </a:lnTo>
                <a:lnTo>
                  <a:pt x="116805" y="705713"/>
                </a:lnTo>
                <a:lnTo>
                  <a:pt x="160371" y="727202"/>
                </a:lnTo>
                <a:lnTo>
                  <a:pt x="207293" y="739775"/>
                </a:lnTo>
                <a:lnTo>
                  <a:pt x="239538" y="742950"/>
                </a:lnTo>
                <a:lnTo>
                  <a:pt x="255761" y="742950"/>
                </a:lnTo>
                <a:lnTo>
                  <a:pt x="303917" y="736612"/>
                </a:lnTo>
                <a:lnTo>
                  <a:pt x="349914" y="720991"/>
                </a:lnTo>
                <a:lnTo>
                  <a:pt x="391979" y="696709"/>
                </a:lnTo>
                <a:lnTo>
                  <a:pt x="428500" y="664679"/>
                </a:lnTo>
                <a:lnTo>
                  <a:pt x="458068" y="626135"/>
                </a:lnTo>
                <a:lnTo>
                  <a:pt x="479554" y="582574"/>
                </a:lnTo>
                <a:lnTo>
                  <a:pt x="492125" y="535660"/>
                </a:lnTo>
                <a:lnTo>
                  <a:pt x="495300" y="503415"/>
                </a:lnTo>
                <a:lnTo>
                  <a:pt x="495300" y="239534"/>
                </a:lnTo>
                <a:lnTo>
                  <a:pt x="488960" y="191376"/>
                </a:lnTo>
                <a:lnTo>
                  <a:pt x="473342" y="145389"/>
                </a:lnTo>
                <a:lnTo>
                  <a:pt x="449059" y="103314"/>
                </a:lnTo>
                <a:lnTo>
                  <a:pt x="417031" y="66802"/>
                </a:lnTo>
                <a:lnTo>
                  <a:pt x="378494" y="37223"/>
                </a:lnTo>
                <a:lnTo>
                  <a:pt x="334928" y="15748"/>
                </a:lnTo>
                <a:lnTo>
                  <a:pt x="288006" y="3175"/>
                </a:lnTo>
                <a:lnTo>
                  <a:pt x="263852" y="393"/>
                </a:lnTo>
                <a:lnTo>
                  <a:pt x="255761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3617" y="2696870"/>
            <a:ext cx="129539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10" b="1">
                <a:solidFill>
                  <a:srgbClr val="1E2F62"/>
                </a:solidFill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7480" y="2575534"/>
            <a:ext cx="6442075" cy="462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110" b="1">
                <a:solidFill>
                  <a:srgbClr val="1E2F62"/>
                </a:solidFill>
                <a:latin typeface="Calibri"/>
                <a:cs typeface="Calibri"/>
              </a:rPr>
              <a:t>Customer</a:t>
            </a:r>
            <a:r>
              <a:rPr dirty="0" sz="120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60" b="1">
                <a:solidFill>
                  <a:srgbClr val="1E2F62"/>
                </a:solidFill>
                <a:latin typeface="Calibri"/>
                <a:cs typeface="Calibri"/>
              </a:rPr>
              <a:t>Information</a:t>
            </a:r>
            <a:r>
              <a:rPr dirty="0" sz="120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1E2F62"/>
                </a:solidFill>
                <a:latin typeface="Calibri"/>
                <a:cs typeface="Calibri"/>
              </a:rPr>
              <a:t>Capture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Securely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record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customer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details,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including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50">
                <a:solidFill>
                  <a:srgbClr val="1E2F62"/>
                </a:solidFill>
                <a:latin typeface="Century Gothic"/>
                <a:cs typeface="Century Gothic"/>
              </a:rPr>
              <a:t>name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0">
                <a:solidFill>
                  <a:srgbClr val="1E2F62"/>
                </a:solidFill>
                <a:latin typeface="Century Gothic"/>
                <a:cs typeface="Century Gothic"/>
              </a:rPr>
              <a:t>phone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number,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order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tracking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future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engagement.</a:t>
            </a:r>
            <a:endParaRPr sz="9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9125" y="3333750"/>
            <a:ext cx="495300" cy="742950"/>
          </a:xfrm>
          <a:custGeom>
            <a:avLst/>
            <a:gdLst/>
            <a:ahLst/>
            <a:cxnLst/>
            <a:rect l="l" t="t" r="r" b="b"/>
            <a:pathLst>
              <a:path w="495300" h="742950">
                <a:moveTo>
                  <a:pt x="255761" y="0"/>
                </a:moveTo>
                <a:lnTo>
                  <a:pt x="239538" y="0"/>
                </a:lnTo>
                <a:lnTo>
                  <a:pt x="231447" y="393"/>
                </a:lnTo>
                <a:lnTo>
                  <a:pt x="191382" y="6337"/>
                </a:lnTo>
                <a:lnTo>
                  <a:pt x="145385" y="21958"/>
                </a:lnTo>
                <a:lnTo>
                  <a:pt x="103320" y="46240"/>
                </a:lnTo>
                <a:lnTo>
                  <a:pt x="66799" y="78270"/>
                </a:lnTo>
                <a:lnTo>
                  <a:pt x="37231" y="116801"/>
                </a:lnTo>
                <a:lnTo>
                  <a:pt x="15745" y="160375"/>
                </a:lnTo>
                <a:lnTo>
                  <a:pt x="3175" y="207289"/>
                </a:lnTo>
                <a:lnTo>
                  <a:pt x="0" y="239534"/>
                </a:lnTo>
                <a:lnTo>
                  <a:pt x="0" y="495300"/>
                </a:lnTo>
                <a:lnTo>
                  <a:pt x="0" y="503415"/>
                </a:lnTo>
                <a:lnTo>
                  <a:pt x="6339" y="551573"/>
                </a:lnTo>
                <a:lnTo>
                  <a:pt x="21957" y="597560"/>
                </a:lnTo>
                <a:lnTo>
                  <a:pt x="46240" y="639635"/>
                </a:lnTo>
                <a:lnTo>
                  <a:pt x="78268" y="676148"/>
                </a:lnTo>
                <a:lnTo>
                  <a:pt x="116805" y="705713"/>
                </a:lnTo>
                <a:lnTo>
                  <a:pt x="160371" y="727202"/>
                </a:lnTo>
                <a:lnTo>
                  <a:pt x="207293" y="739775"/>
                </a:lnTo>
                <a:lnTo>
                  <a:pt x="239538" y="742950"/>
                </a:lnTo>
                <a:lnTo>
                  <a:pt x="255761" y="742950"/>
                </a:lnTo>
                <a:lnTo>
                  <a:pt x="303917" y="736612"/>
                </a:lnTo>
                <a:lnTo>
                  <a:pt x="349914" y="720991"/>
                </a:lnTo>
                <a:lnTo>
                  <a:pt x="391979" y="696709"/>
                </a:lnTo>
                <a:lnTo>
                  <a:pt x="428500" y="664679"/>
                </a:lnTo>
                <a:lnTo>
                  <a:pt x="458068" y="626135"/>
                </a:lnTo>
                <a:lnTo>
                  <a:pt x="479554" y="582574"/>
                </a:lnTo>
                <a:lnTo>
                  <a:pt x="492125" y="535660"/>
                </a:lnTo>
                <a:lnTo>
                  <a:pt x="495300" y="503415"/>
                </a:lnTo>
                <a:lnTo>
                  <a:pt x="495300" y="239534"/>
                </a:lnTo>
                <a:lnTo>
                  <a:pt x="488960" y="191376"/>
                </a:lnTo>
                <a:lnTo>
                  <a:pt x="473342" y="145389"/>
                </a:lnTo>
                <a:lnTo>
                  <a:pt x="449059" y="103314"/>
                </a:lnTo>
                <a:lnTo>
                  <a:pt x="417031" y="66802"/>
                </a:lnTo>
                <a:lnTo>
                  <a:pt x="378494" y="37223"/>
                </a:lnTo>
                <a:lnTo>
                  <a:pt x="334928" y="15748"/>
                </a:lnTo>
                <a:lnTo>
                  <a:pt x="288006" y="3175"/>
                </a:lnTo>
                <a:lnTo>
                  <a:pt x="263852" y="393"/>
                </a:lnTo>
                <a:lnTo>
                  <a:pt x="255761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1535" y="3563645"/>
            <a:ext cx="133350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50" b="1">
                <a:solidFill>
                  <a:srgbClr val="1E2F62"/>
                </a:solidFill>
                <a:latin typeface="Calibri"/>
                <a:cs typeface="Calibri"/>
              </a:rPr>
              <a:t>3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7480" y="3442309"/>
            <a:ext cx="6165215" cy="462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95" b="1">
                <a:solidFill>
                  <a:srgbClr val="1E2F62"/>
                </a:solidFill>
                <a:latin typeface="Calibri"/>
                <a:cs typeface="Calibri"/>
              </a:rPr>
              <a:t>Accurate</a:t>
            </a:r>
            <a:r>
              <a:rPr dirty="0" sz="1200" spc="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E2F62"/>
                </a:solidFill>
                <a:latin typeface="Calibri"/>
                <a:cs typeface="Calibri"/>
              </a:rPr>
              <a:t>Bill</a:t>
            </a:r>
            <a:r>
              <a:rPr dirty="0" sz="1200" spc="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70" b="1">
                <a:solidFill>
                  <a:srgbClr val="1E2F62"/>
                </a:solidFill>
                <a:latin typeface="Calibri"/>
                <a:cs typeface="Calibri"/>
              </a:rPr>
              <a:t>Calculation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Automatically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compute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total</a:t>
            </a:r>
            <a:r>
              <a:rPr dirty="0" sz="9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amount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5">
                <a:solidFill>
                  <a:srgbClr val="1E2F62"/>
                </a:solidFill>
                <a:latin typeface="Century Gothic"/>
                <a:cs typeface="Century Gothic"/>
              </a:rPr>
              <a:t>based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on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selected</a:t>
            </a:r>
            <a:r>
              <a:rPr dirty="0" sz="9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items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quantities,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minimizing</a:t>
            </a:r>
            <a:r>
              <a:rPr dirty="0" sz="9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0">
                <a:solidFill>
                  <a:srgbClr val="1E2F62"/>
                </a:solidFill>
                <a:latin typeface="Century Gothic"/>
                <a:cs typeface="Century Gothic"/>
              </a:rPr>
              <a:t>manual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 errors.</a:t>
            </a:r>
            <a:endParaRPr sz="9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9125" y="4200525"/>
            <a:ext cx="495300" cy="742950"/>
          </a:xfrm>
          <a:custGeom>
            <a:avLst/>
            <a:gdLst/>
            <a:ahLst/>
            <a:cxnLst/>
            <a:rect l="l" t="t" r="r" b="b"/>
            <a:pathLst>
              <a:path w="495300" h="742950">
                <a:moveTo>
                  <a:pt x="255761" y="0"/>
                </a:moveTo>
                <a:lnTo>
                  <a:pt x="239538" y="0"/>
                </a:lnTo>
                <a:lnTo>
                  <a:pt x="231447" y="393"/>
                </a:lnTo>
                <a:lnTo>
                  <a:pt x="191382" y="6337"/>
                </a:lnTo>
                <a:lnTo>
                  <a:pt x="145385" y="21958"/>
                </a:lnTo>
                <a:lnTo>
                  <a:pt x="103320" y="46240"/>
                </a:lnTo>
                <a:lnTo>
                  <a:pt x="66799" y="78270"/>
                </a:lnTo>
                <a:lnTo>
                  <a:pt x="37231" y="116801"/>
                </a:lnTo>
                <a:lnTo>
                  <a:pt x="15745" y="160362"/>
                </a:lnTo>
                <a:lnTo>
                  <a:pt x="3175" y="207289"/>
                </a:lnTo>
                <a:lnTo>
                  <a:pt x="0" y="239534"/>
                </a:lnTo>
                <a:lnTo>
                  <a:pt x="0" y="495300"/>
                </a:lnTo>
                <a:lnTo>
                  <a:pt x="0" y="503415"/>
                </a:lnTo>
                <a:lnTo>
                  <a:pt x="6339" y="551573"/>
                </a:lnTo>
                <a:lnTo>
                  <a:pt x="21957" y="597560"/>
                </a:lnTo>
                <a:lnTo>
                  <a:pt x="46240" y="639635"/>
                </a:lnTo>
                <a:lnTo>
                  <a:pt x="78268" y="676148"/>
                </a:lnTo>
                <a:lnTo>
                  <a:pt x="116805" y="705713"/>
                </a:lnTo>
                <a:lnTo>
                  <a:pt x="160371" y="727202"/>
                </a:lnTo>
                <a:lnTo>
                  <a:pt x="207293" y="739775"/>
                </a:lnTo>
                <a:lnTo>
                  <a:pt x="239538" y="742950"/>
                </a:lnTo>
                <a:lnTo>
                  <a:pt x="255761" y="742950"/>
                </a:lnTo>
                <a:lnTo>
                  <a:pt x="303917" y="736600"/>
                </a:lnTo>
                <a:lnTo>
                  <a:pt x="349914" y="720991"/>
                </a:lnTo>
                <a:lnTo>
                  <a:pt x="391979" y="696709"/>
                </a:lnTo>
                <a:lnTo>
                  <a:pt x="428500" y="664679"/>
                </a:lnTo>
                <a:lnTo>
                  <a:pt x="458068" y="626135"/>
                </a:lnTo>
                <a:lnTo>
                  <a:pt x="479554" y="582574"/>
                </a:lnTo>
                <a:lnTo>
                  <a:pt x="492125" y="535660"/>
                </a:lnTo>
                <a:lnTo>
                  <a:pt x="495300" y="503415"/>
                </a:lnTo>
                <a:lnTo>
                  <a:pt x="495300" y="239534"/>
                </a:lnTo>
                <a:lnTo>
                  <a:pt x="488960" y="191376"/>
                </a:lnTo>
                <a:lnTo>
                  <a:pt x="473342" y="145389"/>
                </a:lnTo>
                <a:lnTo>
                  <a:pt x="449059" y="103314"/>
                </a:lnTo>
                <a:lnTo>
                  <a:pt x="417031" y="66802"/>
                </a:lnTo>
                <a:lnTo>
                  <a:pt x="378494" y="37223"/>
                </a:lnTo>
                <a:lnTo>
                  <a:pt x="334928" y="15748"/>
                </a:lnTo>
                <a:lnTo>
                  <a:pt x="288006" y="3175"/>
                </a:lnTo>
                <a:lnTo>
                  <a:pt x="263852" y="393"/>
                </a:lnTo>
                <a:lnTo>
                  <a:pt x="255761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98118" y="4430420"/>
            <a:ext cx="14033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110" b="1">
                <a:solidFill>
                  <a:srgbClr val="1E2F62"/>
                </a:solidFill>
                <a:latin typeface="Calibri"/>
                <a:cs typeface="Calibri"/>
              </a:rPr>
              <a:t>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7477" y="4309084"/>
            <a:ext cx="6554470" cy="462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185" b="1">
                <a:solidFill>
                  <a:srgbClr val="1E2F62"/>
                </a:solidFill>
                <a:latin typeface="Calibri"/>
                <a:cs typeface="Calibri"/>
              </a:rPr>
              <a:t>GST</a:t>
            </a:r>
            <a:r>
              <a:rPr dirty="0" sz="120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90" b="1">
                <a:solidFill>
                  <a:srgbClr val="1E2F62"/>
                </a:solidFill>
                <a:latin typeface="Calibri"/>
                <a:cs typeface="Calibri"/>
              </a:rPr>
              <a:t>and</a:t>
            </a:r>
            <a:r>
              <a:rPr dirty="0" sz="1200" spc="-3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95" b="1">
                <a:solidFill>
                  <a:srgbClr val="1E2F62"/>
                </a:solidFill>
                <a:latin typeface="Calibri"/>
                <a:cs typeface="Calibri"/>
              </a:rPr>
              <a:t>Discount</a:t>
            </a:r>
            <a:r>
              <a:rPr dirty="0" sz="1200" spc="-3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1E2F62"/>
                </a:solidFill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Incorporate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35">
                <a:solidFill>
                  <a:srgbClr val="1E2F62"/>
                </a:solidFill>
                <a:latin typeface="Century Gothic"/>
                <a:cs typeface="Century Gothic"/>
              </a:rPr>
              <a:t>Goods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Services Tax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50">
                <a:solidFill>
                  <a:srgbClr val="1E2F62"/>
                </a:solidFill>
                <a:latin typeface="Century Gothic"/>
                <a:cs typeface="Century Gothic"/>
              </a:rPr>
              <a:t>(GST)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0">
                <a:solidFill>
                  <a:srgbClr val="1E2F62"/>
                </a:solidFill>
                <a:latin typeface="Century Gothic"/>
                <a:cs typeface="Century Gothic"/>
              </a:rPr>
              <a:t>apply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discounts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as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per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business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rules, ensuring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transparent</a:t>
            </a:r>
            <a:r>
              <a:rPr dirty="0" sz="9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pricing.</a:t>
            </a:r>
            <a:endParaRPr sz="95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9125" y="5067300"/>
            <a:ext cx="495300" cy="742950"/>
          </a:xfrm>
          <a:custGeom>
            <a:avLst/>
            <a:gdLst/>
            <a:ahLst/>
            <a:cxnLst/>
            <a:rect l="l" t="t" r="r" b="b"/>
            <a:pathLst>
              <a:path w="495300" h="742950">
                <a:moveTo>
                  <a:pt x="255761" y="0"/>
                </a:moveTo>
                <a:lnTo>
                  <a:pt x="239538" y="0"/>
                </a:lnTo>
                <a:lnTo>
                  <a:pt x="231447" y="393"/>
                </a:lnTo>
                <a:lnTo>
                  <a:pt x="191382" y="6337"/>
                </a:lnTo>
                <a:lnTo>
                  <a:pt x="145385" y="21958"/>
                </a:lnTo>
                <a:lnTo>
                  <a:pt x="103320" y="46240"/>
                </a:lnTo>
                <a:lnTo>
                  <a:pt x="66799" y="78270"/>
                </a:lnTo>
                <a:lnTo>
                  <a:pt x="37231" y="116805"/>
                </a:lnTo>
                <a:lnTo>
                  <a:pt x="15745" y="160367"/>
                </a:lnTo>
                <a:lnTo>
                  <a:pt x="3175" y="207289"/>
                </a:lnTo>
                <a:lnTo>
                  <a:pt x="0" y="239539"/>
                </a:lnTo>
                <a:lnTo>
                  <a:pt x="0" y="495301"/>
                </a:lnTo>
                <a:lnTo>
                  <a:pt x="0" y="503411"/>
                </a:lnTo>
                <a:lnTo>
                  <a:pt x="6339" y="551567"/>
                </a:lnTo>
                <a:lnTo>
                  <a:pt x="21957" y="597565"/>
                </a:lnTo>
                <a:lnTo>
                  <a:pt x="46240" y="639629"/>
                </a:lnTo>
                <a:lnTo>
                  <a:pt x="78268" y="676146"/>
                </a:lnTo>
                <a:lnTo>
                  <a:pt x="116805" y="705718"/>
                </a:lnTo>
                <a:lnTo>
                  <a:pt x="160371" y="727199"/>
                </a:lnTo>
                <a:lnTo>
                  <a:pt x="207293" y="739771"/>
                </a:lnTo>
                <a:lnTo>
                  <a:pt x="239538" y="742951"/>
                </a:lnTo>
                <a:lnTo>
                  <a:pt x="255761" y="742951"/>
                </a:lnTo>
                <a:lnTo>
                  <a:pt x="303917" y="736606"/>
                </a:lnTo>
                <a:lnTo>
                  <a:pt x="349914" y="720994"/>
                </a:lnTo>
                <a:lnTo>
                  <a:pt x="391979" y="696705"/>
                </a:lnTo>
                <a:lnTo>
                  <a:pt x="428500" y="664677"/>
                </a:lnTo>
                <a:lnTo>
                  <a:pt x="458068" y="626140"/>
                </a:lnTo>
                <a:lnTo>
                  <a:pt x="479554" y="582578"/>
                </a:lnTo>
                <a:lnTo>
                  <a:pt x="492125" y="535658"/>
                </a:lnTo>
                <a:lnTo>
                  <a:pt x="495300" y="503411"/>
                </a:lnTo>
                <a:lnTo>
                  <a:pt x="495300" y="239539"/>
                </a:lnTo>
                <a:lnTo>
                  <a:pt x="488960" y="191378"/>
                </a:lnTo>
                <a:lnTo>
                  <a:pt x="473342" y="145385"/>
                </a:lnTo>
                <a:lnTo>
                  <a:pt x="449059" y="103317"/>
                </a:lnTo>
                <a:lnTo>
                  <a:pt x="417031" y="66802"/>
                </a:lnTo>
                <a:lnTo>
                  <a:pt x="378494" y="37223"/>
                </a:lnTo>
                <a:lnTo>
                  <a:pt x="334928" y="15748"/>
                </a:lnTo>
                <a:lnTo>
                  <a:pt x="288006" y="3175"/>
                </a:lnTo>
                <a:lnTo>
                  <a:pt x="263852" y="393"/>
                </a:lnTo>
                <a:lnTo>
                  <a:pt x="255761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01395" y="5306720"/>
            <a:ext cx="13398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60" b="1">
                <a:solidFill>
                  <a:srgbClr val="1E2F62"/>
                </a:solidFill>
                <a:latin typeface="Calibri"/>
                <a:cs typeface="Calibri"/>
              </a:rPr>
              <a:t>5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27488" y="5175859"/>
            <a:ext cx="5053965" cy="462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70" b="1">
                <a:solidFill>
                  <a:srgbClr val="1E2F62"/>
                </a:solidFill>
                <a:latin typeface="Calibri"/>
                <a:cs typeface="Calibri"/>
              </a:rPr>
              <a:t>Final</a:t>
            </a:r>
            <a:r>
              <a:rPr dirty="0" sz="1200" spc="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E2F62"/>
                </a:solidFill>
                <a:latin typeface="Calibri"/>
                <a:cs typeface="Calibri"/>
              </a:rPr>
              <a:t>Bill</a:t>
            </a:r>
            <a:r>
              <a:rPr dirty="0" sz="1200" spc="4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1E2F62"/>
                </a:solidFill>
                <a:latin typeface="Calibri"/>
                <a:cs typeface="Calibri"/>
              </a:rPr>
              <a:t>Generation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Produce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2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9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20">
                <a:solidFill>
                  <a:srgbClr val="1E2F62"/>
                </a:solidFill>
                <a:latin typeface="Century Gothic"/>
                <a:cs typeface="Century Gothic"/>
              </a:rPr>
              <a:t>comprehensive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6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55">
                <a:solidFill>
                  <a:srgbClr val="1E2F62"/>
                </a:solidFill>
                <a:latin typeface="Century Gothic"/>
                <a:cs typeface="Century Gothic"/>
              </a:rPr>
              <a:t>readable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final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bill,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40">
                <a:solidFill>
                  <a:srgbClr val="1E2F62"/>
                </a:solidFill>
                <a:latin typeface="Century Gothic"/>
                <a:cs typeface="Century Gothic"/>
              </a:rPr>
              <a:t>ready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presentation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9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950" spc="-10">
                <a:solidFill>
                  <a:srgbClr val="1E2F62"/>
                </a:solidFill>
                <a:latin typeface="Century Gothic"/>
                <a:cs typeface="Century Gothic"/>
              </a:rPr>
              <a:t>customer.</a:t>
            </a:r>
            <a:endParaRPr sz="9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359" y="429930"/>
            <a:ext cx="6221730" cy="3486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100" spc="190"/>
              <a:t>System</a:t>
            </a:r>
            <a:r>
              <a:rPr dirty="0" sz="2100" spc="-65"/>
              <a:t> </a:t>
            </a:r>
            <a:r>
              <a:rPr dirty="0" sz="2100" spc="120"/>
              <a:t>Features:</a:t>
            </a:r>
            <a:r>
              <a:rPr dirty="0" sz="2100" spc="-60"/>
              <a:t> </a:t>
            </a:r>
            <a:r>
              <a:rPr dirty="0" sz="2100" spc="185"/>
              <a:t>Enhancing</a:t>
            </a:r>
            <a:r>
              <a:rPr dirty="0" sz="2100" spc="-65"/>
              <a:t> </a:t>
            </a:r>
            <a:r>
              <a:rPr dirty="0" sz="2100" spc="145"/>
              <a:t>the</a:t>
            </a:r>
            <a:r>
              <a:rPr dirty="0" sz="2100" spc="-60"/>
              <a:t> </a:t>
            </a:r>
            <a:r>
              <a:rPr dirty="0" sz="2100" spc="135"/>
              <a:t>User</a:t>
            </a:r>
            <a:r>
              <a:rPr dirty="0" sz="2100" spc="-65"/>
              <a:t> </a:t>
            </a:r>
            <a:r>
              <a:rPr dirty="0" sz="2100" spc="155"/>
              <a:t>Experience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566359" y="1009262"/>
            <a:ext cx="590105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Our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integrates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key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functionalities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ensure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14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practical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efficient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solution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management.</a:t>
            </a:r>
            <a:endParaRPr sz="85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087" y="1422983"/>
            <a:ext cx="3006052" cy="300605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78087" y="4891506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4" y="0"/>
                </a:moveTo>
                <a:lnTo>
                  <a:pt x="15429" y="0"/>
                </a:lnTo>
                <a:lnTo>
                  <a:pt x="13160" y="450"/>
                </a:lnTo>
                <a:lnTo>
                  <a:pt x="0" y="15427"/>
                </a:lnTo>
                <a:lnTo>
                  <a:pt x="0" y="20147"/>
                </a:lnTo>
                <a:lnTo>
                  <a:pt x="15429" y="35574"/>
                </a:lnTo>
                <a:lnTo>
                  <a:pt x="20144" y="35574"/>
                </a:lnTo>
                <a:lnTo>
                  <a:pt x="35574" y="20147"/>
                </a:lnTo>
                <a:lnTo>
                  <a:pt x="35574" y="17787"/>
                </a:lnTo>
                <a:lnTo>
                  <a:pt x="35574" y="15427"/>
                </a:lnTo>
                <a:lnTo>
                  <a:pt x="22414" y="450"/>
                </a:lnTo>
                <a:lnTo>
                  <a:pt x="20144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8087" y="5104953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4" y="0"/>
                </a:moveTo>
                <a:lnTo>
                  <a:pt x="15429" y="0"/>
                </a:lnTo>
                <a:lnTo>
                  <a:pt x="13160" y="450"/>
                </a:lnTo>
                <a:lnTo>
                  <a:pt x="0" y="15427"/>
                </a:lnTo>
                <a:lnTo>
                  <a:pt x="0" y="20147"/>
                </a:lnTo>
                <a:lnTo>
                  <a:pt x="15429" y="35574"/>
                </a:lnTo>
                <a:lnTo>
                  <a:pt x="20144" y="35574"/>
                </a:lnTo>
                <a:lnTo>
                  <a:pt x="35574" y="20147"/>
                </a:lnTo>
                <a:lnTo>
                  <a:pt x="35574" y="17787"/>
                </a:lnTo>
                <a:lnTo>
                  <a:pt x="35574" y="15427"/>
                </a:lnTo>
                <a:lnTo>
                  <a:pt x="22414" y="450"/>
                </a:lnTo>
                <a:lnTo>
                  <a:pt x="20144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8087" y="5309508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4" y="0"/>
                </a:moveTo>
                <a:lnTo>
                  <a:pt x="15429" y="0"/>
                </a:lnTo>
                <a:lnTo>
                  <a:pt x="13160" y="449"/>
                </a:lnTo>
                <a:lnTo>
                  <a:pt x="0" y="15425"/>
                </a:lnTo>
                <a:lnTo>
                  <a:pt x="0" y="20144"/>
                </a:lnTo>
                <a:lnTo>
                  <a:pt x="15429" y="35574"/>
                </a:lnTo>
                <a:lnTo>
                  <a:pt x="20144" y="35574"/>
                </a:lnTo>
                <a:lnTo>
                  <a:pt x="35574" y="20144"/>
                </a:lnTo>
                <a:lnTo>
                  <a:pt x="35574" y="17787"/>
                </a:lnTo>
                <a:lnTo>
                  <a:pt x="35574" y="15425"/>
                </a:lnTo>
                <a:lnTo>
                  <a:pt x="22414" y="449"/>
                </a:lnTo>
                <a:lnTo>
                  <a:pt x="20144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6359" y="4522075"/>
            <a:ext cx="1236980" cy="875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60" b="1">
                <a:solidFill>
                  <a:srgbClr val="081C52"/>
                </a:solidFill>
                <a:latin typeface="Calibri"/>
                <a:cs typeface="Calibri"/>
              </a:rPr>
              <a:t>Diverse</a:t>
            </a:r>
            <a:r>
              <a:rPr dirty="0" sz="1050" spc="-20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1050" spc="85" b="1">
                <a:solidFill>
                  <a:srgbClr val="081C52"/>
                </a:solidFill>
                <a:latin typeface="Calibri"/>
                <a:cs typeface="Calibri"/>
              </a:rPr>
              <a:t>Food</a:t>
            </a:r>
            <a:r>
              <a:rPr dirty="0" sz="1050" spc="-20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1050" spc="40" b="1">
                <a:solidFill>
                  <a:srgbClr val="081C52"/>
                </a:solidFill>
                <a:latin typeface="Calibri"/>
                <a:cs typeface="Calibri"/>
              </a:rPr>
              <a:t>Menu</a:t>
            </a:r>
            <a:endParaRPr sz="1050">
              <a:latin typeface="Calibri"/>
              <a:cs typeface="Calibri"/>
            </a:endParaRPr>
          </a:p>
          <a:p>
            <a:pPr marL="184150" marR="101600">
              <a:lnSpc>
                <a:spcPct val="161300"/>
              </a:lnSpc>
              <a:spcBef>
                <a:spcPts val="484"/>
              </a:spcBef>
            </a:pP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Indian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Cuisine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Chinese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Delicacies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Italian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Specialties</a:t>
            </a:r>
            <a:endParaRPr sz="850">
              <a:latin typeface="Century Gothic"/>
              <a:cs typeface="Century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8486" y="1422983"/>
            <a:ext cx="3006052" cy="300605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469593" y="4891506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7" y="0"/>
                </a:moveTo>
                <a:lnTo>
                  <a:pt x="15427" y="0"/>
                </a:lnTo>
                <a:lnTo>
                  <a:pt x="13162" y="450"/>
                </a:lnTo>
                <a:lnTo>
                  <a:pt x="0" y="15427"/>
                </a:lnTo>
                <a:lnTo>
                  <a:pt x="0" y="20147"/>
                </a:lnTo>
                <a:lnTo>
                  <a:pt x="15427" y="35574"/>
                </a:lnTo>
                <a:lnTo>
                  <a:pt x="20147" y="35574"/>
                </a:lnTo>
                <a:lnTo>
                  <a:pt x="35574" y="20147"/>
                </a:lnTo>
                <a:lnTo>
                  <a:pt x="35574" y="17787"/>
                </a:lnTo>
                <a:lnTo>
                  <a:pt x="35574" y="15427"/>
                </a:lnTo>
                <a:lnTo>
                  <a:pt x="22411" y="450"/>
                </a:lnTo>
                <a:lnTo>
                  <a:pt x="20147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69593" y="5104953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7" y="0"/>
                </a:moveTo>
                <a:lnTo>
                  <a:pt x="15427" y="0"/>
                </a:lnTo>
                <a:lnTo>
                  <a:pt x="13162" y="450"/>
                </a:lnTo>
                <a:lnTo>
                  <a:pt x="0" y="15427"/>
                </a:lnTo>
                <a:lnTo>
                  <a:pt x="0" y="20147"/>
                </a:lnTo>
                <a:lnTo>
                  <a:pt x="15427" y="35574"/>
                </a:lnTo>
                <a:lnTo>
                  <a:pt x="20147" y="35574"/>
                </a:lnTo>
                <a:lnTo>
                  <a:pt x="35574" y="20147"/>
                </a:lnTo>
                <a:lnTo>
                  <a:pt x="35574" y="17787"/>
                </a:lnTo>
                <a:lnTo>
                  <a:pt x="35574" y="15427"/>
                </a:lnTo>
                <a:lnTo>
                  <a:pt x="22411" y="450"/>
                </a:lnTo>
                <a:lnTo>
                  <a:pt x="20147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69593" y="5309508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0147" y="0"/>
                </a:moveTo>
                <a:lnTo>
                  <a:pt x="15427" y="0"/>
                </a:lnTo>
                <a:lnTo>
                  <a:pt x="13162" y="449"/>
                </a:lnTo>
                <a:lnTo>
                  <a:pt x="0" y="15425"/>
                </a:lnTo>
                <a:lnTo>
                  <a:pt x="0" y="20144"/>
                </a:lnTo>
                <a:lnTo>
                  <a:pt x="15427" y="35574"/>
                </a:lnTo>
                <a:lnTo>
                  <a:pt x="20147" y="35574"/>
                </a:lnTo>
                <a:lnTo>
                  <a:pt x="35574" y="20144"/>
                </a:lnTo>
                <a:lnTo>
                  <a:pt x="35574" y="17787"/>
                </a:lnTo>
                <a:lnTo>
                  <a:pt x="35574" y="15425"/>
                </a:lnTo>
                <a:lnTo>
                  <a:pt x="22411" y="449"/>
                </a:lnTo>
                <a:lnTo>
                  <a:pt x="20147" y="0"/>
                </a:lnTo>
                <a:close/>
              </a:path>
            </a:pathLst>
          </a:custGeom>
          <a:solidFill>
            <a:srgbClr val="1E2F6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63569" y="4522075"/>
            <a:ext cx="1776730" cy="875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70" b="1">
                <a:solidFill>
                  <a:srgbClr val="081C52"/>
                </a:solidFill>
                <a:latin typeface="Calibri"/>
                <a:cs typeface="Calibri"/>
              </a:rPr>
              <a:t>Automated</a:t>
            </a:r>
            <a:r>
              <a:rPr dirty="0" sz="1050" spc="-10" b="1">
                <a:solidFill>
                  <a:srgbClr val="081C52"/>
                </a:solidFill>
                <a:latin typeface="Calibri"/>
                <a:cs typeface="Calibri"/>
              </a:rPr>
              <a:t> </a:t>
            </a:r>
            <a:r>
              <a:rPr dirty="0" sz="1050" spc="60" b="1">
                <a:solidFill>
                  <a:srgbClr val="081C52"/>
                </a:solidFill>
                <a:latin typeface="Calibri"/>
                <a:cs typeface="Calibri"/>
              </a:rPr>
              <a:t>Calculations</a:t>
            </a:r>
            <a:endParaRPr sz="1050">
              <a:latin typeface="Calibri"/>
              <a:cs typeface="Calibri"/>
            </a:endParaRPr>
          </a:p>
          <a:p>
            <a:pPr marL="184150" marR="5080">
              <a:lnSpc>
                <a:spcPct val="161300"/>
              </a:lnSpc>
              <a:spcBef>
                <a:spcPts val="484"/>
              </a:spcBef>
            </a:pP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Quantity-based</a:t>
            </a:r>
            <a:r>
              <a:rPr dirty="0" sz="850" spc="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Billing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Automatic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18%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55">
                <a:solidFill>
                  <a:srgbClr val="1E2F62"/>
                </a:solidFill>
                <a:latin typeface="Century Gothic"/>
                <a:cs typeface="Century Gothic"/>
              </a:rPr>
              <a:t>GST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Application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Discount</a:t>
            </a:r>
            <a:r>
              <a:rPr dirty="0" sz="85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Bills</a:t>
            </a:r>
            <a:r>
              <a:rPr dirty="0" sz="85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60">
                <a:solidFill>
                  <a:srgbClr val="1E2F62"/>
                </a:solidFill>
                <a:latin typeface="Century Gothic"/>
                <a:cs typeface="Century Gothic"/>
              </a:rPr>
              <a:t>Above</a:t>
            </a:r>
            <a:r>
              <a:rPr dirty="0" sz="850" spc="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Rs.</a:t>
            </a:r>
            <a:r>
              <a:rPr dirty="0" sz="85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40">
                <a:solidFill>
                  <a:srgbClr val="1E2F62"/>
                </a:solidFill>
                <a:latin typeface="Century Gothic"/>
                <a:cs typeface="Century Gothic"/>
              </a:rPr>
              <a:t>500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7559" y="5696215"/>
            <a:ext cx="624840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user-friendly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console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interface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ensures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ease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of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use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staff,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making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14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swift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straightforward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process.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8087" y="5576318"/>
            <a:ext cx="18415" cy="409575"/>
          </a:xfrm>
          <a:custGeom>
            <a:avLst/>
            <a:gdLst/>
            <a:ahLst/>
            <a:cxnLst/>
            <a:rect l="l" t="t" r="r" b="b"/>
            <a:pathLst>
              <a:path w="18415" h="409575">
                <a:moveTo>
                  <a:pt x="17787" y="0"/>
                </a:moveTo>
                <a:lnTo>
                  <a:pt x="0" y="0"/>
                </a:lnTo>
                <a:lnTo>
                  <a:pt x="0" y="409107"/>
                </a:lnTo>
                <a:lnTo>
                  <a:pt x="17787" y="409107"/>
                </a:lnTo>
                <a:lnTo>
                  <a:pt x="17787" y="0"/>
                </a:lnTo>
                <a:close/>
              </a:path>
            </a:pathLst>
          </a:custGeom>
          <a:solidFill>
            <a:srgbClr val="84C1F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5051" y="0"/>
            <a:ext cx="3981031" cy="64404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3305" y="427596"/>
            <a:ext cx="5290185" cy="68262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ts val="2650"/>
              </a:lnSpc>
              <a:spcBef>
                <a:spcPts val="75"/>
              </a:spcBef>
            </a:pPr>
            <a:r>
              <a:rPr dirty="0" sz="2100" spc="155"/>
              <a:t>Technology</a:t>
            </a:r>
            <a:r>
              <a:rPr dirty="0" sz="2100" spc="-65"/>
              <a:t> </a:t>
            </a:r>
            <a:r>
              <a:rPr dirty="0" sz="2100" spc="130"/>
              <a:t>&amp;</a:t>
            </a:r>
            <a:r>
              <a:rPr dirty="0" sz="2100" spc="-65"/>
              <a:t> </a:t>
            </a:r>
            <a:r>
              <a:rPr dirty="0" sz="2100" spc="114"/>
              <a:t>Tools</a:t>
            </a:r>
            <a:r>
              <a:rPr dirty="0" sz="2100" spc="-60"/>
              <a:t> </a:t>
            </a:r>
            <a:r>
              <a:rPr dirty="0" sz="2100" spc="125"/>
              <a:t>Used:</a:t>
            </a:r>
            <a:r>
              <a:rPr dirty="0" sz="2100" spc="-65"/>
              <a:t> </a:t>
            </a:r>
            <a:r>
              <a:rPr dirty="0" sz="2100" spc="215"/>
              <a:t>The</a:t>
            </a:r>
            <a:r>
              <a:rPr dirty="0" sz="2100" spc="-60"/>
              <a:t> </a:t>
            </a:r>
            <a:r>
              <a:rPr dirty="0" sz="2100" spc="120"/>
              <a:t>Foundation </a:t>
            </a:r>
            <a:r>
              <a:rPr dirty="0" sz="2100" spc="105"/>
              <a:t>of</a:t>
            </a:r>
            <a:r>
              <a:rPr dirty="0" sz="2100" spc="-65"/>
              <a:t> </a:t>
            </a:r>
            <a:r>
              <a:rPr dirty="0" sz="2100" spc="140"/>
              <a:t>Our</a:t>
            </a:r>
            <a:r>
              <a:rPr dirty="0" sz="2100" spc="-60"/>
              <a:t> </a:t>
            </a:r>
            <a:r>
              <a:rPr dirty="0" sz="2100" spc="175"/>
              <a:t>System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563293" y="1247235"/>
            <a:ext cx="5446395" cy="361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800"/>
              </a:lnSpc>
              <a:spcBef>
                <a:spcPts val="10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project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leverages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industry-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standard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programming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languages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8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development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tools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build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30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robust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and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functional</a:t>
            </a:r>
            <a:r>
              <a:rPr dirty="0" sz="850" spc="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application.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734" y="1742807"/>
            <a:ext cx="269875" cy="321310"/>
          </a:xfrm>
          <a:custGeom>
            <a:avLst/>
            <a:gdLst/>
            <a:ahLst/>
            <a:cxnLst/>
            <a:rect l="l" t="t" r="r" b="b"/>
            <a:pathLst>
              <a:path w="269875" h="321310">
                <a:moveTo>
                  <a:pt x="268042" y="279663"/>
                </a:moveTo>
                <a:lnTo>
                  <a:pt x="232166" y="303869"/>
                </a:lnTo>
                <a:lnTo>
                  <a:pt x="190030" y="317920"/>
                </a:lnTo>
                <a:lnTo>
                  <a:pt x="162977" y="320832"/>
                </a:lnTo>
                <a:lnTo>
                  <a:pt x="154619" y="320698"/>
                </a:lnTo>
                <a:lnTo>
                  <a:pt x="112787" y="313675"/>
                </a:lnTo>
                <a:lnTo>
                  <a:pt x="73437" y="295657"/>
                </a:lnTo>
                <a:lnTo>
                  <a:pt x="41054" y="267672"/>
                </a:lnTo>
                <a:lnTo>
                  <a:pt x="17459" y="232838"/>
                </a:lnTo>
                <a:lnTo>
                  <a:pt x="3175" y="191436"/>
                </a:lnTo>
                <a:lnTo>
                  <a:pt x="0" y="156247"/>
                </a:lnTo>
                <a:lnTo>
                  <a:pt x="133" y="147575"/>
                </a:lnTo>
                <a:lnTo>
                  <a:pt x="9127" y="106077"/>
                </a:lnTo>
                <a:lnTo>
                  <a:pt x="29183" y="67715"/>
                </a:lnTo>
                <a:lnTo>
                  <a:pt x="58821" y="36184"/>
                </a:lnTo>
                <a:lnTo>
                  <a:pt x="96475" y="13258"/>
                </a:lnTo>
                <a:lnTo>
                  <a:pt x="138200" y="1773"/>
                </a:lnTo>
                <a:lnTo>
                  <a:pt x="164484" y="0"/>
                </a:lnTo>
                <a:lnTo>
                  <a:pt x="173207" y="612"/>
                </a:lnTo>
                <a:lnTo>
                  <a:pt x="215284" y="9364"/>
                </a:lnTo>
                <a:lnTo>
                  <a:pt x="252376" y="27870"/>
                </a:lnTo>
                <a:lnTo>
                  <a:pt x="269438" y="40636"/>
                </a:lnTo>
              </a:path>
            </a:pathLst>
          </a:custGeom>
          <a:ln w="14222">
            <a:solidFill>
              <a:srgbClr val="84C1F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305" y="2180311"/>
            <a:ext cx="4883785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85" b="1">
                <a:solidFill>
                  <a:srgbClr val="1E2F62"/>
                </a:solidFill>
                <a:latin typeface="Calibri"/>
                <a:cs typeface="Calibri"/>
              </a:rPr>
              <a:t>Programming</a:t>
            </a:r>
            <a:r>
              <a:rPr dirty="0" sz="105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1E2F62"/>
                </a:solidFill>
                <a:latin typeface="Calibri"/>
                <a:cs typeface="Calibri"/>
              </a:rPr>
              <a:t>Language:</a:t>
            </a:r>
            <a:r>
              <a:rPr dirty="0" sz="105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180" b="1">
                <a:solidFill>
                  <a:srgbClr val="1E2F62"/>
                </a:solidFill>
                <a:latin typeface="Calibri"/>
                <a:cs typeface="Calibri"/>
              </a:rPr>
              <a:t>C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Chosen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its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efficiency,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control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over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hardware,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8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foundational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importance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in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computer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science.</a:t>
            </a:r>
            <a:endParaRPr sz="850">
              <a:latin typeface="Century Gothic"/>
              <a:cs typeface="Century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3861" y="2806154"/>
            <a:ext cx="283353" cy="33504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3305" y="3250766"/>
            <a:ext cx="5054600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70" b="1">
                <a:solidFill>
                  <a:srgbClr val="1E2F62"/>
                </a:solidFill>
                <a:latin typeface="Calibri"/>
                <a:cs typeface="Calibri"/>
              </a:rPr>
              <a:t>Compiler:</a:t>
            </a:r>
            <a:r>
              <a:rPr dirty="0" sz="1050" spc="-3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165" b="1">
                <a:solidFill>
                  <a:srgbClr val="1E2F62"/>
                </a:solidFill>
                <a:latin typeface="Calibri"/>
                <a:cs typeface="Calibri"/>
              </a:rPr>
              <a:t>GCC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GNU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Compiler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Collection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provides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robust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compilation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our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0">
                <a:solidFill>
                  <a:srgbClr val="1E2F62"/>
                </a:solidFill>
                <a:latin typeface="Century Gothic"/>
                <a:cs typeface="Century Gothic"/>
              </a:rPr>
              <a:t>C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85">
                <a:solidFill>
                  <a:srgbClr val="1E2F62"/>
                </a:solidFill>
                <a:latin typeface="Century Gothic"/>
                <a:cs typeface="Century Gothic"/>
              </a:rPr>
              <a:t>code,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ensuring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wide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compatibility.</a:t>
            </a:r>
            <a:endParaRPr sz="850">
              <a:latin typeface="Century Gothic"/>
              <a:cs typeface="Century Gothic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713" y="3876604"/>
            <a:ext cx="201480" cy="33505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3305" y="4321221"/>
            <a:ext cx="4914265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55" b="1">
                <a:solidFill>
                  <a:srgbClr val="1E2F62"/>
                </a:solidFill>
                <a:latin typeface="Calibri"/>
                <a:cs typeface="Calibri"/>
              </a:rPr>
              <a:t>IDE:</a:t>
            </a:r>
            <a:r>
              <a:rPr dirty="0" sz="10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130" b="1">
                <a:solidFill>
                  <a:srgbClr val="1E2F62"/>
                </a:solidFill>
                <a:latin typeface="Calibri"/>
                <a:cs typeface="Calibri"/>
              </a:rPr>
              <a:t>VS</a:t>
            </a:r>
            <a:r>
              <a:rPr dirty="0" sz="10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110" b="1">
                <a:solidFill>
                  <a:srgbClr val="1E2F62"/>
                </a:solidFill>
                <a:latin typeface="Calibri"/>
                <a:cs typeface="Calibri"/>
              </a:rPr>
              <a:t>Code</a:t>
            </a:r>
            <a:r>
              <a:rPr dirty="0" sz="105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1E2F62"/>
                </a:solidFill>
                <a:latin typeface="Calibri"/>
                <a:cs typeface="Calibri"/>
              </a:rPr>
              <a:t>/</a:t>
            </a:r>
            <a:r>
              <a:rPr dirty="0" sz="10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75" b="1">
                <a:solidFill>
                  <a:srgbClr val="1E2F62"/>
                </a:solidFill>
                <a:latin typeface="Calibri"/>
                <a:cs typeface="Calibri"/>
              </a:rPr>
              <a:t>CodeBlocks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29800"/>
              </a:lnSpc>
              <a:spcBef>
                <a:spcPts val="450"/>
              </a:spcBef>
            </a:pP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Integrated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Development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Environments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that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offer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powerful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debugging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8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90">
                <a:solidFill>
                  <a:srgbClr val="1E2F62"/>
                </a:solidFill>
                <a:latin typeface="Century Gothic"/>
                <a:cs typeface="Century Gothic"/>
              </a:rPr>
              <a:t>code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editing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features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for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streamlined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development.</a:t>
            </a:r>
            <a:endParaRPr sz="850">
              <a:latin typeface="Century Gothic"/>
              <a:cs typeface="Century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851" y="5129311"/>
            <a:ext cx="335121" cy="3245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63305" y="5559764"/>
            <a:ext cx="4654550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50" b="1">
                <a:solidFill>
                  <a:srgbClr val="1E2F62"/>
                </a:solidFill>
                <a:latin typeface="Calibri"/>
                <a:cs typeface="Calibri"/>
              </a:rPr>
              <a:t>Platform:</a:t>
            </a:r>
            <a:r>
              <a:rPr dirty="0" sz="105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60" b="1">
                <a:solidFill>
                  <a:srgbClr val="1E2F62"/>
                </a:solidFill>
                <a:latin typeface="Calibri"/>
                <a:cs typeface="Calibri"/>
              </a:rPr>
              <a:t>Windows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primary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operating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used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development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8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testing,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ensuring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65">
                <a:solidFill>
                  <a:srgbClr val="1E2F62"/>
                </a:solidFill>
                <a:latin typeface="Century Gothic"/>
                <a:cs typeface="Century Gothic"/>
              </a:rPr>
              <a:t>broad</a:t>
            </a:r>
            <a:r>
              <a:rPr dirty="0" sz="850" spc="-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accessibility.</a:t>
            </a:r>
            <a:endParaRPr sz="8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5230"/>
            <a:ext cx="10734040" cy="6189980"/>
          </a:xfrm>
          <a:custGeom>
            <a:avLst/>
            <a:gdLst/>
            <a:ahLst/>
            <a:cxnLst/>
            <a:rect l="l" t="t" r="r" b="b"/>
            <a:pathLst>
              <a:path w="10734040" h="6189980">
                <a:moveTo>
                  <a:pt x="10734040" y="0"/>
                </a:moveTo>
                <a:lnTo>
                  <a:pt x="0" y="0"/>
                </a:lnTo>
                <a:lnTo>
                  <a:pt x="0" y="6189963"/>
                </a:lnTo>
                <a:lnTo>
                  <a:pt x="10734040" y="6189963"/>
                </a:lnTo>
                <a:lnTo>
                  <a:pt x="107340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632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30"/>
              </a:spcBef>
            </a:pPr>
            <a:r>
              <a:rPr dirty="0" sz="2100" spc="185"/>
              <a:t>Program</a:t>
            </a:r>
            <a:r>
              <a:rPr dirty="0" sz="2100" spc="-45"/>
              <a:t> </a:t>
            </a:r>
            <a:r>
              <a:rPr dirty="0" sz="2100" spc="114"/>
              <a:t>Workflow:</a:t>
            </a:r>
            <a:r>
              <a:rPr dirty="0" sz="2100" spc="-45"/>
              <a:t> </a:t>
            </a:r>
            <a:r>
              <a:rPr dirty="0" sz="2100" spc="185"/>
              <a:t>Step-</a:t>
            </a:r>
            <a:r>
              <a:rPr dirty="0" sz="2100" spc="225"/>
              <a:t>by-</a:t>
            </a:r>
            <a:r>
              <a:rPr dirty="0" sz="2100" spc="200"/>
              <a:t>Step</a:t>
            </a:r>
            <a:r>
              <a:rPr dirty="0" sz="2100" spc="-45"/>
              <a:t> </a:t>
            </a:r>
            <a:r>
              <a:rPr dirty="0" sz="2100" spc="114"/>
              <a:t>Billing</a:t>
            </a:r>
            <a:r>
              <a:rPr dirty="0" sz="2100" spc="-45"/>
              <a:t> </a:t>
            </a:r>
            <a:r>
              <a:rPr dirty="0" sz="2100" spc="185"/>
              <a:t>Process</a:t>
            </a:r>
            <a:endParaRPr sz="2100"/>
          </a:p>
        </p:txBody>
      </p:sp>
      <p:sp>
        <p:nvSpPr>
          <p:cNvPr id="4" name="object 4"/>
          <p:cNvSpPr/>
          <p:nvPr/>
        </p:nvSpPr>
        <p:spPr>
          <a:xfrm>
            <a:off x="581366" y="1431205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69">
                <a:moveTo>
                  <a:pt x="270433" y="0"/>
                </a:moveTo>
                <a:lnTo>
                  <a:pt x="54085" y="0"/>
                </a:lnTo>
                <a:lnTo>
                  <a:pt x="54085" y="486693"/>
                </a:lnTo>
                <a:lnTo>
                  <a:pt x="0" y="486693"/>
                </a:lnTo>
                <a:lnTo>
                  <a:pt x="162259" y="648932"/>
                </a:lnTo>
                <a:lnTo>
                  <a:pt x="324518" y="486693"/>
                </a:lnTo>
                <a:lnTo>
                  <a:pt x="270433" y="486693"/>
                </a:lnTo>
                <a:lnTo>
                  <a:pt x="270433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9705" y="1140398"/>
            <a:ext cx="5320665" cy="790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Understanding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sequential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flow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of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our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program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55">
                <a:solidFill>
                  <a:srgbClr val="1E2F62"/>
                </a:solidFill>
                <a:latin typeface="Century Gothic"/>
                <a:cs typeface="Century Gothic"/>
              </a:rPr>
              <a:t>is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key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to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appreciating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50">
                <a:solidFill>
                  <a:srgbClr val="1E2F62"/>
                </a:solidFill>
                <a:latin typeface="Century Gothic"/>
                <a:cs typeface="Century Gothic"/>
              </a:rPr>
              <a:t>its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logical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structure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efficiency.</a:t>
            </a:r>
            <a:endParaRPr sz="8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850">
              <a:latin typeface="Century Gothic"/>
              <a:cs typeface="Century Gothic"/>
            </a:endParaRPr>
          </a:p>
          <a:p>
            <a:pPr marL="445134">
              <a:lnSpc>
                <a:spcPct val="100000"/>
              </a:lnSpc>
            </a:pPr>
            <a:r>
              <a:rPr dirty="0" sz="1050" spc="80" b="1">
                <a:solidFill>
                  <a:srgbClr val="1E2F62"/>
                </a:solidFill>
                <a:latin typeface="Calibri"/>
                <a:cs typeface="Calibri"/>
              </a:rPr>
              <a:t>Start</a:t>
            </a:r>
            <a:r>
              <a:rPr dirty="0" sz="1050" spc="-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80" b="1">
                <a:solidFill>
                  <a:srgbClr val="1E2F62"/>
                </a:solidFill>
                <a:latin typeface="Calibri"/>
                <a:cs typeface="Calibri"/>
              </a:rPr>
              <a:t>Program</a:t>
            </a:r>
            <a:endParaRPr sz="1050">
              <a:latin typeface="Calibri"/>
              <a:cs typeface="Calibri"/>
            </a:endParaRPr>
          </a:p>
          <a:p>
            <a:pPr marL="445134">
              <a:lnSpc>
                <a:spcPct val="100000"/>
              </a:lnSpc>
              <a:spcBef>
                <a:spcPts val="775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Initiates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5">
                <a:solidFill>
                  <a:srgbClr val="1E2F62"/>
                </a:solidFill>
                <a:latin typeface="Century Gothic"/>
                <a:cs typeface="Century Gothic"/>
              </a:rPr>
              <a:t>application,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preparing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it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user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interaction.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2376" y="2182588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69">
                <a:moveTo>
                  <a:pt x="270433" y="0"/>
                </a:moveTo>
                <a:lnTo>
                  <a:pt x="54085" y="0"/>
                </a:lnTo>
                <a:lnTo>
                  <a:pt x="54085" y="486693"/>
                </a:lnTo>
                <a:lnTo>
                  <a:pt x="0" y="486693"/>
                </a:lnTo>
                <a:lnTo>
                  <a:pt x="162259" y="648932"/>
                </a:lnTo>
                <a:lnTo>
                  <a:pt x="324518" y="486693"/>
                </a:lnTo>
                <a:lnTo>
                  <a:pt x="270433" y="486693"/>
                </a:lnTo>
                <a:lnTo>
                  <a:pt x="270433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64275" y="2267293"/>
            <a:ext cx="3366770" cy="4152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60" b="1">
                <a:solidFill>
                  <a:srgbClr val="1E2F62"/>
                </a:solidFill>
                <a:latin typeface="Calibri"/>
                <a:cs typeface="Calibri"/>
              </a:rPr>
              <a:t>Take</a:t>
            </a:r>
            <a:r>
              <a:rPr dirty="0" sz="105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95" b="1">
                <a:solidFill>
                  <a:srgbClr val="1E2F62"/>
                </a:solidFill>
                <a:latin typeface="Calibri"/>
                <a:cs typeface="Calibri"/>
              </a:rPr>
              <a:t>Customer</a:t>
            </a:r>
            <a:r>
              <a:rPr dirty="0" sz="1050" spc="-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50" b="1">
                <a:solidFill>
                  <a:srgbClr val="1E2F62"/>
                </a:solidFill>
                <a:latin typeface="Calibri"/>
                <a:cs typeface="Calibri"/>
              </a:rPr>
              <a:t>Details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Prompts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records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customer's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60">
                <a:solidFill>
                  <a:srgbClr val="1E2F62"/>
                </a:solidFill>
                <a:latin typeface="Century Gothic"/>
                <a:cs typeface="Century Gothic"/>
              </a:rPr>
              <a:t>name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contact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number.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3387" y="2942915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70">
                <a:moveTo>
                  <a:pt x="270433" y="0"/>
                </a:moveTo>
                <a:lnTo>
                  <a:pt x="54085" y="0"/>
                </a:lnTo>
                <a:lnTo>
                  <a:pt x="54085" y="486693"/>
                </a:lnTo>
                <a:lnTo>
                  <a:pt x="0" y="486693"/>
                </a:lnTo>
                <a:lnTo>
                  <a:pt x="162259" y="648932"/>
                </a:lnTo>
                <a:lnTo>
                  <a:pt x="324515" y="486693"/>
                </a:lnTo>
                <a:lnTo>
                  <a:pt x="270433" y="486693"/>
                </a:lnTo>
                <a:lnTo>
                  <a:pt x="270433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326538" y="3027621"/>
            <a:ext cx="3049270" cy="4152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60" b="1">
                <a:solidFill>
                  <a:srgbClr val="1E2F62"/>
                </a:solidFill>
                <a:latin typeface="Calibri"/>
                <a:cs typeface="Calibri"/>
              </a:rPr>
              <a:t>Display</a:t>
            </a:r>
            <a:r>
              <a:rPr dirty="0" sz="1050" spc="-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45" b="1">
                <a:solidFill>
                  <a:srgbClr val="1E2F62"/>
                </a:solidFill>
                <a:latin typeface="Calibri"/>
                <a:cs typeface="Calibri"/>
              </a:rPr>
              <a:t>Menu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Presents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available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food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items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their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prices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to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0">
                <a:solidFill>
                  <a:srgbClr val="1E2F62"/>
                </a:solidFill>
                <a:latin typeface="Century Gothic"/>
                <a:cs typeface="Century Gothic"/>
              </a:rPr>
              <a:t>user.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3343" y="3694298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70">
                <a:moveTo>
                  <a:pt x="270439" y="0"/>
                </a:moveTo>
                <a:lnTo>
                  <a:pt x="54085" y="0"/>
                </a:lnTo>
                <a:lnTo>
                  <a:pt x="54085" y="486693"/>
                </a:lnTo>
                <a:lnTo>
                  <a:pt x="0" y="486693"/>
                </a:lnTo>
                <a:lnTo>
                  <a:pt x="162264" y="648932"/>
                </a:lnTo>
                <a:lnTo>
                  <a:pt x="324515" y="486693"/>
                </a:lnTo>
                <a:lnTo>
                  <a:pt x="270439" y="486693"/>
                </a:lnTo>
                <a:lnTo>
                  <a:pt x="270439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88813" y="3787949"/>
            <a:ext cx="3576320" cy="4152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90" b="1">
                <a:solidFill>
                  <a:srgbClr val="1E2F62"/>
                </a:solidFill>
                <a:latin typeface="Calibri"/>
                <a:cs typeface="Calibri"/>
              </a:rPr>
              <a:t>Select</a:t>
            </a:r>
            <a:r>
              <a:rPr dirty="0" sz="10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70" b="1">
                <a:solidFill>
                  <a:srgbClr val="1E2F62"/>
                </a:solidFill>
                <a:latin typeface="Calibri"/>
                <a:cs typeface="Calibri"/>
              </a:rPr>
              <a:t>Items</a:t>
            </a:r>
            <a:r>
              <a:rPr dirty="0" sz="10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70" b="1">
                <a:solidFill>
                  <a:srgbClr val="1E2F62"/>
                </a:solidFill>
                <a:latin typeface="Calibri"/>
                <a:cs typeface="Calibri"/>
              </a:rPr>
              <a:t>&amp;</a:t>
            </a:r>
            <a:r>
              <a:rPr dirty="0" sz="105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55" b="1">
                <a:solidFill>
                  <a:srgbClr val="1E2F62"/>
                </a:solidFill>
                <a:latin typeface="Calibri"/>
                <a:cs typeface="Calibri"/>
              </a:rPr>
              <a:t>Quantity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Allows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user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choose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desired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items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specify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quantities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each.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03387" y="4454626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70">
                <a:moveTo>
                  <a:pt x="270433" y="0"/>
                </a:moveTo>
                <a:lnTo>
                  <a:pt x="54085" y="0"/>
                </a:lnTo>
                <a:lnTo>
                  <a:pt x="54085" y="486693"/>
                </a:lnTo>
                <a:lnTo>
                  <a:pt x="0" y="486693"/>
                </a:lnTo>
                <a:lnTo>
                  <a:pt x="162259" y="648932"/>
                </a:lnTo>
                <a:lnTo>
                  <a:pt x="324515" y="486693"/>
                </a:lnTo>
                <a:lnTo>
                  <a:pt x="270433" y="486693"/>
                </a:lnTo>
                <a:lnTo>
                  <a:pt x="270433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26538" y="4539331"/>
            <a:ext cx="4142740" cy="4152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75" b="1">
                <a:solidFill>
                  <a:srgbClr val="1E2F62"/>
                </a:solidFill>
                <a:latin typeface="Calibri"/>
                <a:cs typeface="Calibri"/>
              </a:rPr>
              <a:t>Calculate</a:t>
            </a:r>
            <a:r>
              <a:rPr dirty="0" sz="1050" spc="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20" b="1">
                <a:solidFill>
                  <a:srgbClr val="1E2F62"/>
                </a:solidFill>
                <a:latin typeface="Calibri"/>
                <a:cs typeface="Calibri"/>
              </a:rPr>
              <a:t>Total,</a:t>
            </a:r>
            <a:r>
              <a:rPr dirty="0" sz="1050" spc="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150" b="1">
                <a:solidFill>
                  <a:srgbClr val="1E2F62"/>
                </a:solidFill>
                <a:latin typeface="Calibri"/>
                <a:cs typeface="Calibri"/>
              </a:rPr>
              <a:t>GST</a:t>
            </a:r>
            <a:r>
              <a:rPr dirty="0" sz="1050" spc="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70" b="1">
                <a:solidFill>
                  <a:srgbClr val="1E2F62"/>
                </a:solidFill>
                <a:latin typeface="Calibri"/>
                <a:cs typeface="Calibri"/>
              </a:rPr>
              <a:t>&amp;</a:t>
            </a:r>
            <a:r>
              <a:rPr dirty="0" sz="1050" spc="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70" b="1">
                <a:solidFill>
                  <a:srgbClr val="1E2F62"/>
                </a:solidFill>
                <a:latin typeface="Calibri"/>
                <a:cs typeface="Calibri"/>
              </a:rPr>
              <a:t>Discount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Automatically </a:t>
            </a:r>
            <a:r>
              <a:rPr dirty="0" sz="850" spc="-35">
                <a:solidFill>
                  <a:srgbClr val="1E2F62"/>
                </a:solidFill>
                <a:latin typeface="Century Gothic"/>
                <a:cs typeface="Century Gothic"/>
              </a:rPr>
              <a:t>computes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subtotal,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adds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GST,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applies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5">
                <a:solidFill>
                  <a:srgbClr val="1E2F62"/>
                </a:solidFill>
                <a:latin typeface="Century Gothic"/>
                <a:cs typeface="Century Gothic"/>
              </a:rPr>
              <a:t>any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eligible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discounts.</a:t>
            </a:r>
            <a:endParaRPr sz="85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2376" y="5214954"/>
            <a:ext cx="325120" cy="648970"/>
          </a:xfrm>
          <a:custGeom>
            <a:avLst/>
            <a:gdLst/>
            <a:ahLst/>
            <a:cxnLst/>
            <a:rect l="l" t="t" r="r" b="b"/>
            <a:pathLst>
              <a:path w="325119" h="648970">
                <a:moveTo>
                  <a:pt x="270433" y="0"/>
                </a:moveTo>
                <a:lnTo>
                  <a:pt x="54085" y="0"/>
                </a:lnTo>
                <a:lnTo>
                  <a:pt x="54085" y="486698"/>
                </a:lnTo>
                <a:lnTo>
                  <a:pt x="0" y="486698"/>
                </a:lnTo>
                <a:lnTo>
                  <a:pt x="162259" y="648934"/>
                </a:lnTo>
                <a:lnTo>
                  <a:pt x="324518" y="486698"/>
                </a:lnTo>
                <a:lnTo>
                  <a:pt x="270433" y="486698"/>
                </a:lnTo>
                <a:lnTo>
                  <a:pt x="270433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4275" y="5299659"/>
            <a:ext cx="4204335" cy="41529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60" b="1">
                <a:solidFill>
                  <a:srgbClr val="1E2F62"/>
                </a:solidFill>
                <a:latin typeface="Calibri"/>
                <a:cs typeface="Calibri"/>
              </a:rPr>
              <a:t>Display</a:t>
            </a:r>
            <a:r>
              <a:rPr dirty="0" sz="1050" spc="-2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60" b="1">
                <a:solidFill>
                  <a:srgbClr val="1E2F62"/>
                </a:solidFill>
                <a:latin typeface="Calibri"/>
                <a:cs typeface="Calibri"/>
              </a:rPr>
              <a:t>Final</a:t>
            </a:r>
            <a:r>
              <a:rPr dirty="0" sz="1050" spc="-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1E2F62"/>
                </a:solidFill>
                <a:latin typeface="Calibri"/>
                <a:cs typeface="Calibri"/>
              </a:rPr>
              <a:t>Bill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Generates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shows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50">
                <a:solidFill>
                  <a:srgbClr val="1E2F62"/>
                </a:solidFill>
                <a:latin typeface="Century Gothic"/>
                <a:cs typeface="Century Gothic"/>
              </a:rPr>
              <a:t>complete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bill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>
                <a:solidFill>
                  <a:srgbClr val="1E2F62"/>
                </a:solidFill>
                <a:latin typeface="Century Gothic"/>
                <a:cs typeface="Century Gothic"/>
              </a:rPr>
              <a:t>with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all </a:t>
            </a:r>
            <a:r>
              <a:rPr dirty="0" sz="850" spc="-40">
                <a:solidFill>
                  <a:srgbClr val="1E2F62"/>
                </a:solidFill>
                <a:latin typeface="Century Gothic"/>
                <a:cs typeface="Century Gothic"/>
              </a:rPr>
              <a:t>charges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savings</a:t>
            </a:r>
            <a:r>
              <a:rPr dirty="0" sz="8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850" spc="-30">
                <a:solidFill>
                  <a:srgbClr val="1E2F62"/>
                </a:solidFill>
                <a:latin typeface="Century Gothic"/>
                <a:cs typeface="Century Gothic"/>
              </a:rPr>
              <a:t>clearly </a:t>
            </a:r>
            <a:r>
              <a:rPr dirty="0" sz="850" spc="-10">
                <a:solidFill>
                  <a:srgbClr val="1E2F62"/>
                </a:solidFill>
                <a:latin typeface="Century Gothic"/>
                <a:cs typeface="Century Gothic"/>
              </a:rPr>
              <a:t>itemised.</a:t>
            </a:r>
            <a:endParaRPr sz="8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7466" y="690587"/>
            <a:ext cx="5922645" cy="1092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dirty="0" spc="229"/>
              <a:t>Conclusion:</a:t>
            </a:r>
            <a:r>
              <a:rPr dirty="0" spc="-110"/>
              <a:t> </a:t>
            </a:r>
            <a:r>
              <a:rPr dirty="0" spc="225"/>
              <a:t>Project</a:t>
            </a:r>
            <a:r>
              <a:rPr dirty="0" spc="-110"/>
              <a:t> </a:t>
            </a:r>
            <a:r>
              <a:rPr dirty="0" spc="295"/>
              <a:t>Summary </a:t>
            </a:r>
            <a:r>
              <a:rPr dirty="0" spc="204"/>
              <a:t>&amp;</a:t>
            </a:r>
            <a:r>
              <a:rPr dirty="0" spc="-105"/>
              <a:t> </a:t>
            </a:r>
            <a:r>
              <a:rPr dirty="0" spc="235"/>
              <a:t>Learning</a:t>
            </a:r>
            <a:r>
              <a:rPr dirty="0" spc="-105"/>
              <a:t> </a:t>
            </a:r>
            <a:r>
              <a:rPr dirty="0" spc="275"/>
              <a:t>Outcomes</a:t>
            </a:r>
          </a:p>
        </p:txBody>
      </p:sp>
      <p:sp>
        <p:nvSpPr>
          <p:cNvPr id="4" name="object 4"/>
          <p:cNvSpPr/>
          <p:nvPr/>
        </p:nvSpPr>
        <p:spPr>
          <a:xfrm>
            <a:off x="619125" y="2781300"/>
            <a:ext cx="5905500" cy="1504950"/>
          </a:xfrm>
          <a:custGeom>
            <a:avLst/>
            <a:gdLst/>
            <a:ahLst/>
            <a:cxnLst/>
            <a:rect l="l" t="t" r="r" b="b"/>
            <a:pathLst>
              <a:path w="5905500" h="1504950">
                <a:moveTo>
                  <a:pt x="5905500" y="0"/>
                </a:moveTo>
                <a:lnTo>
                  <a:pt x="336698" y="0"/>
                </a:lnTo>
                <a:lnTo>
                  <a:pt x="328432" y="102"/>
                </a:lnTo>
                <a:lnTo>
                  <a:pt x="287292" y="3644"/>
                </a:lnTo>
                <a:lnTo>
                  <a:pt x="246897" y="12195"/>
                </a:lnTo>
                <a:lnTo>
                  <a:pt x="207848" y="25628"/>
                </a:lnTo>
                <a:lnTo>
                  <a:pt x="170738" y="43747"/>
                </a:lnTo>
                <a:lnTo>
                  <a:pt x="136126" y="66257"/>
                </a:lnTo>
                <a:lnTo>
                  <a:pt x="104532" y="92843"/>
                </a:lnTo>
                <a:lnTo>
                  <a:pt x="76428" y="123101"/>
                </a:lnTo>
                <a:lnTo>
                  <a:pt x="52235" y="156560"/>
                </a:lnTo>
                <a:lnTo>
                  <a:pt x="32326" y="192741"/>
                </a:lnTo>
                <a:lnTo>
                  <a:pt x="16994" y="231081"/>
                </a:lnTo>
                <a:lnTo>
                  <a:pt x="6469" y="271018"/>
                </a:lnTo>
                <a:lnTo>
                  <a:pt x="912" y="311929"/>
                </a:lnTo>
                <a:lnTo>
                  <a:pt x="0" y="336689"/>
                </a:lnTo>
                <a:lnTo>
                  <a:pt x="0" y="1504950"/>
                </a:lnTo>
                <a:lnTo>
                  <a:pt x="5568797" y="1504950"/>
                </a:lnTo>
                <a:lnTo>
                  <a:pt x="5577067" y="1504847"/>
                </a:lnTo>
                <a:lnTo>
                  <a:pt x="5618207" y="1501303"/>
                </a:lnTo>
                <a:lnTo>
                  <a:pt x="5658603" y="1492749"/>
                </a:lnTo>
                <a:lnTo>
                  <a:pt x="5697651" y="1479321"/>
                </a:lnTo>
                <a:lnTo>
                  <a:pt x="5734764" y="1461208"/>
                </a:lnTo>
                <a:lnTo>
                  <a:pt x="5769371" y="1438692"/>
                </a:lnTo>
                <a:lnTo>
                  <a:pt x="5800969" y="1412106"/>
                </a:lnTo>
                <a:lnTo>
                  <a:pt x="5829071" y="1381848"/>
                </a:lnTo>
                <a:lnTo>
                  <a:pt x="5853261" y="1348378"/>
                </a:lnTo>
                <a:lnTo>
                  <a:pt x="5873177" y="1312208"/>
                </a:lnTo>
                <a:lnTo>
                  <a:pt x="5888506" y="1273868"/>
                </a:lnTo>
                <a:lnTo>
                  <a:pt x="5899035" y="1233944"/>
                </a:lnTo>
                <a:lnTo>
                  <a:pt x="5904583" y="1193020"/>
                </a:lnTo>
                <a:lnTo>
                  <a:pt x="5905500" y="1168247"/>
                </a:lnTo>
                <a:lnTo>
                  <a:pt x="5905500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07466" y="1983112"/>
            <a:ext cx="5773420" cy="2101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95"/>
              </a:spcBef>
            </a:pPr>
            <a:r>
              <a:rPr dirty="0" sz="1300" spc="130">
                <a:solidFill>
                  <a:srgbClr val="1E2F62"/>
                </a:solidFill>
                <a:latin typeface="Century Gothic"/>
                <a:cs typeface="Century Gothic"/>
              </a:rPr>
              <a:t>This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project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served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as</a:t>
            </a:r>
            <a:r>
              <a:rPr dirty="0" sz="1300" spc="-7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an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E2F62"/>
                </a:solidFill>
                <a:latin typeface="Century Gothic"/>
                <a:cs typeface="Century Gothic"/>
              </a:rPr>
              <a:t>excellent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practical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application</a:t>
            </a:r>
            <a:r>
              <a:rPr dirty="0" sz="1300" spc="-7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of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C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programming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principles,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delivering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7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functional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130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system.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300">
              <a:latin typeface="Century Gothic"/>
              <a:cs typeface="Century Gothic"/>
            </a:endParaRPr>
          </a:p>
          <a:p>
            <a:pPr marL="180975">
              <a:lnSpc>
                <a:spcPct val="100000"/>
              </a:lnSpc>
            </a:pPr>
            <a:r>
              <a:rPr dirty="0" sz="1650" spc="110" b="1">
                <a:solidFill>
                  <a:srgbClr val="1E2F62"/>
                </a:solidFill>
                <a:latin typeface="Calibri"/>
                <a:cs typeface="Calibri"/>
              </a:rPr>
              <a:t>Project</a:t>
            </a:r>
            <a:r>
              <a:rPr dirty="0" sz="1650" spc="-40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650" spc="140" b="1">
                <a:solidFill>
                  <a:srgbClr val="1E2F62"/>
                </a:solidFill>
                <a:latin typeface="Calibri"/>
                <a:cs typeface="Calibri"/>
              </a:rPr>
              <a:t>Summary</a:t>
            </a:r>
            <a:endParaRPr sz="1650">
              <a:latin typeface="Calibri"/>
              <a:cs typeface="Calibri"/>
            </a:endParaRPr>
          </a:p>
          <a:p>
            <a:pPr marL="180975" marR="25400">
              <a:lnSpc>
                <a:spcPct val="134600"/>
              </a:lnSpc>
              <a:spcBef>
                <a:spcPts val="680"/>
              </a:spcBef>
            </a:pP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Successfully </a:t>
            </a: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developed</a:t>
            </a:r>
            <a:r>
              <a:rPr dirty="0" sz="130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7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30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55">
                <a:solidFill>
                  <a:srgbClr val="1E2F62"/>
                </a:solidFill>
                <a:latin typeface="Century Gothic"/>
                <a:cs typeface="Century Gothic"/>
              </a:rPr>
              <a:t>C-</a:t>
            </a:r>
            <a:r>
              <a:rPr dirty="0" sz="1300" spc="-30">
                <a:solidFill>
                  <a:srgbClr val="1E2F62"/>
                </a:solidFill>
                <a:latin typeface="Century Gothic"/>
                <a:cs typeface="Century Gothic"/>
              </a:rPr>
              <a:t>based</a:t>
            </a:r>
            <a:r>
              <a:rPr dirty="0" sz="130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restaurant billing</a:t>
            </a:r>
            <a:r>
              <a:rPr dirty="0" sz="130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130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that </a:t>
            </a:r>
            <a:r>
              <a:rPr dirty="0" sz="1300" spc="-40">
                <a:solidFill>
                  <a:srgbClr val="1E2F62"/>
                </a:solidFill>
                <a:latin typeface="Century Gothic"/>
                <a:cs typeface="Century Gothic"/>
              </a:rPr>
              <a:t>automates</a:t>
            </a:r>
            <a:r>
              <a:rPr dirty="0" sz="130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35">
                <a:solidFill>
                  <a:srgbClr val="1E2F62"/>
                </a:solidFill>
                <a:latin typeface="Century Gothic"/>
                <a:cs typeface="Century Gothic"/>
              </a:rPr>
              <a:t>menu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35">
                <a:solidFill>
                  <a:srgbClr val="1E2F62"/>
                </a:solidFill>
                <a:latin typeface="Century Gothic"/>
                <a:cs typeface="Century Gothic"/>
              </a:rPr>
              <a:t>display,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order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processing,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final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bill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E2F62"/>
                </a:solidFill>
                <a:latin typeface="Century Gothic"/>
                <a:cs typeface="Century Gothic"/>
              </a:rPr>
              <a:t>generation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with </a:t>
            </a:r>
            <a:r>
              <a:rPr dirty="0" sz="1300" spc="110">
                <a:solidFill>
                  <a:srgbClr val="1E2F62"/>
                </a:solidFill>
                <a:latin typeface="Century Gothic"/>
                <a:cs typeface="Century Gothic"/>
              </a:rPr>
              <a:t>GST</a:t>
            </a:r>
            <a:r>
              <a:rPr dirty="0" sz="130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and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discounts.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125" y="4457700"/>
            <a:ext cx="5905500" cy="1238250"/>
          </a:xfrm>
          <a:custGeom>
            <a:avLst/>
            <a:gdLst/>
            <a:ahLst/>
            <a:cxnLst/>
            <a:rect l="l" t="t" r="r" b="b"/>
            <a:pathLst>
              <a:path w="5905500" h="1238250">
                <a:moveTo>
                  <a:pt x="5905500" y="0"/>
                </a:moveTo>
                <a:lnTo>
                  <a:pt x="336698" y="0"/>
                </a:lnTo>
                <a:lnTo>
                  <a:pt x="328432" y="102"/>
                </a:lnTo>
                <a:lnTo>
                  <a:pt x="287292" y="3644"/>
                </a:lnTo>
                <a:lnTo>
                  <a:pt x="246897" y="12195"/>
                </a:lnTo>
                <a:lnTo>
                  <a:pt x="207848" y="25628"/>
                </a:lnTo>
                <a:lnTo>
                  <a:pt x="170738" y="43747"/>
                </a:lnTo>
                <a:lnTo>
                  <a:pt x="136126" y="66257"/>
                </a:lnTo>
                <a:lnTo>
                  <a:pt x="104532" y="92843"/>
                </a:lnTo>
                <a:lnTo>
                  <a:pt x="76428" y="123101"/>
                </a:lnTo>
                <a:lnTo>
                  <a:pt x="52235" y="156560"/>
                </a:lnTo>
                <a:lnTo>
                  <a:pt x="32326" y="192741"/>
                </a:lnTo>
                <a:lnTo>
                  <a:pt x="16994" y="231081"/>
                </a:lnTo>
                <a:lnTo>
                  <a:pt x="6469" y="271018"/>
                </a:lnTo>
                <a:lnTo>
                  <a:pt x="912" y="311929"/>
                </a:lnTo>
                <a:lnTo>
                  <a:pt x="0" y="336689"/>
                </a:lnTo>
                <a:lnTo>
                  <a:pt x="0" y="1238251"/>
                </a:lnTo>
                <a:lnTo>
                  <a:pt x="5568797" y="1238251"/>
                </a:lnTo>
                <a:lnTo>
                  <a:pt x="5577067" y="1238149"/>
                </a:lnTo>
                <a:lnTo>
                  <a:pt x="5618207" y="1234604"/>
                </a:lnTo>
                <a:lnTo>
                  <a:pt x="5658603" y="1226052"/>
                </a:lnTo>
                <a:lnTo>
                  <a:pt x="5697651" y="1212617"/>
                </a:lnTo>
                <a:lnTo>
                  <a:pt x="5734764" y="1194507"/>
                </a:lnTo>
                <a:lnTo>
                  <a:pt x="5769371" y="1171988"/>
                </a:lnTo>
                <a:lnTo>
                  <a:pt x="5800969" y="1145405"/>
                </a:lnTo>
                <a:lnTo>
                  <a:pt x="5829071" y="1115150"/>
                </a:lnTo>
                <a:lnTo>
                  <a:pt x="5853261" y="1081681"/>
                </a:lnTo>
                <a:lnTo>
                  <a:pt x="5873177" y="1045507"/>
                </a:lnTo>
                <a:lnTo>
                  <a:pt x="5888506" y="1007170"/>
                </a:lnTo>
                <a:lnTo>
                  <a:pt x="5899035" y="967239"/>
                </a:lnTo>
                <a:lnTo>
                  <a:pt x="5904583" y="926317"/>
                </a:lnTo>
                <a:lnTo>
                  <a:pt x="5905500" y="901552"/>
                </a:lnTo>
                <a:lnTo>
                  <a:pt x="5905500" y="0"/>
                </a:lnTo>
                <a:close/>
              </a:path>
            </a:pathLst>
          </a:custGeom>
          <a:solidFill>
            <a:srgbClr val="CEE6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5790" y="4596536"/>
            <a:ext cx="5050790" cy="898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14" b="1">
                <a:solidFill>
                  <a:srgbClr val="1E2F62"/>
                </a:solidFill>
                <a:latin typeface="Calibri"/>
                <a:cs typeface="Calibri"/>
              </a:rPr>
              <a:t>Learning</a:t>
            </a:r>
            <a:r>
              <a:rPr dirty="0" sz="16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650" spc="130" b="1">
                <a:solidFill>
                  <a:srgbClr val="1E2F62"/>
                </a:solidFill>
                <a:latin typeface="Calibri"/>
                <a:cs typeface="Calibri"/>
              </a:rPr>
              <a:t>Outcomes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34600"/>
              </a:lnSpc>
              <a:spcBef>
                <a:spcPts val="680"/>
              </a:spcBef>
            </a:pPr>
            <a:r>
              <a:rPr dirty="0" sz="1300" spc="-75">
                <a:solidFill>
                  <a:srgbClr val="1E2F62"/>
                </a:solidFill>
                <a:latin typeface="Century Gothic"/>
                <a:cs typeface="Century Gothic"/>
              </a:rPr>
              <a:t>Gained</a:t>
            </a:r>
            <a:r>
              <a:rPr dirty="0" sz="130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E2F62"/>
                </a:solidFill>
                <a:latin typeface="Century Gothic"/>
                <a:cs typeface="Century Gothic"/>
              </a:rPr>
              <a:t>proficiency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 in</a:t>
            </a:r>
            <a:r>
              <a:rPr dirty="0" sz="130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C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programming,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0">
                <a:solidFill>
                  <a:srgbClr val="1E2F62"/>
                </a:solidFill>
                <a:latin typeface="Century Gothic"/>
                <a:cs typeface="Century Gothic"/>
              </a:rPr>
              <a:t>data</a:t>
            </a:r>
            <a:r>
              <a:rPr dirty="0" sz="130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structures,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algorithm 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design,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8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user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35">
                <a:solidFill>
                  <a:srgbClr val="1E2F62"/>
                </a:solidFill>
                <a:latin typeface="Century Gothic"/>
                <a:cs typeface="Century Gothic"/>
              </a:rPr>
              <a:t>interface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E2F62"/>
                </a:solidFill>
                <a:latin typeface="Century Gothic"/>
                <a:cs typeface="Century Gothic"/>
              </a:rPr>
              <a:t>development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300" spc="-25">
                <a:solidFill>
                  <a:srgbClr val="1E2F62"/>
                </a:solidFill>
                <a:latin typeface="Century Gothic"/>
                <a:cs typeface="Century Gothic"/>
              </a:rPr>
              <a:t> console</a:t>
            </a:r>
            <a:r>
              <a:rPr dirty="0" sz="1300" spc="-2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E2F62"/>
                </a:solidFill>
                <a:latin typeface="Century Gothic"/>
                <a:cs typeface="Century Gothic"/>
              </a:rPr>
              <a:t>applications.</a:t>
            </a:r>
            <a:endParaRPr sz="1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329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15"/>
              </a:spcBef>
            </a:pPr>
            <a:r>
              <a:rPr dirty="0" sz="2950" spc="170"/>
              <a:t>Future</a:t>
            </a:r>
            <a:r>
              <a:rPr dirty="0" sz="2950" spc="-80"/>
              <a:t> </a:t>
            </a:r>
            <a:r>
              <a:rPr dirty="0" sz="2950" spc="235"/>
              <a:t>Scope:</a:t>
            </a:r>
            <a:r>
              <a:rPr dirty="0" sz="2950" spc="-75"/>
              <a:t> </a:t>
            </a:r>
            <a:r>
              <a:rPr dirty="0" sz="2950" spc="254"/>
              <a:t>Enhancing</a:t>
            </a:r>
            <a:r>
              <a:rPr dirty="0" sz="2950" spc="-75"/>
              <a:t> </a:t>
            </a:r>
            <a:r>
              <a:rPr dirty="0" sz="2950" spc="160"/>
              <a:t>Functionality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607453" y="1322341"/>
            <a:ext cx="9882505" cy="520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1300"/>
              </a:lnSpc>
              <a:spcBef>
                <a:spcPts val="90"/>
              </a:spcBef>
            </a:pPr>
            <a:r>
              <a:rPr dirty="0" sz="1150" spc="50">
                <a:solidFill>
                  <a:srgbClr val="1E2F62"/>
                </a:solidFill>
                <a:latin typeface="Century Gothic"/>
                <a:cs typeface="Century Gothic"/>
              </a:rPr>
              <a:t>While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current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90">
                <a:solidFill>
                  <a:srgbClr val="1E2F62"/>
                </a:solidFill>
                <a:latin typeface="Century Gothic"/>
                <a:cs typeface="Century Gothic"/>
              </a:rPr>
              <a:t>is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functional,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there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are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numerous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avenues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expansion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improvement,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30">
                <a:solidFill>
                  <a:srgbClr val="1E2F62"/>
                </a:solidFill>
                <a:latin typeface="Century Gothic"/>
                <a:cs typeface="Century Gothic"/>
              </a:rPr>
              <a:t>leveraging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more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90">
                <a:solidFill>
                  <a:srgbClr val="1E2F62"/>
                </a:solidFill>
                <a:latin typeface="Century Gothic"/>
                <a:cs typeface="Century Gothic"/>
              </a:rPr>
              <a:t>advanced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programming techniques.</a:t>
            </a:r>
            <a:endParaRPr sz="115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9124" y="2038350"/>
            <a:ext cx="5019675" cy="1819275"/>
            <a:chOff x="619124" y="2038350"/>
            <a:chExt cx="5019675" cy="1819275"/>
          </a:xfrm>
        </p:grpSpPr>
        <p:sp>
          <p:nvSpPr>
            <p:cNvPr id="5" name="object 5"/>
            <p:cNvSpPr/>
            <p:nvPr/>
          </p:nvSpPr>
          <p:spPr>
            <a:xfrm>
              <a:off x="628649" y="2257425"/>
              <a:ext cx="5000625" cy="1590675"/>
            </a:xfrm>
            <a:custGeom>
              <a:avLst/>
              <a:gdLst/>
              <a:ahLst/>
              <a:cxnLst/>
              <a:rect l="l" t="t" r="r" b="b"/>
              <a:pathLst>
                <a:path w="5000625" h="1590675">
                  <a:moveTo>
                    <a:pt x="4938331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7233"/>
                  </a:lnTo>
                  <a:lnTo>
                    <a:pt x="0" y="1494028"/>
                  </a:lnTo>
                  <a:lnTo>
                    <a:pt x="10472" y="1533093"/>
                  </a:lnTo>
                  <a:lnTo>
                    <a:pt x="35104" y="1565173"/>
                  </a:lnTo>
                  <a:lnTo>
                    <a:pt x="70133" y="1585391"/>
                  </a:lnTo>
                  <a:lnTo>
                    <a:pt x="96653" y="1590675"/>
                  </a:lnTo>
                  <a:lnTo>
                    <a:pt x="4903965" y="1590675"/>
                  </a:lnTo>
                  <a:lnTo>
                    <a:pt x="4943043" y="1580197"/>
                  </a:lnTo>
                  <a:lnTo>
                    <a:pt x="4975123" y="1555572"/>
                  </a:lnTo>
                  <a:lnTo>
                    <a:pt x="4995354" y="1520532"/>
                  </a:lnTo>
                  <a:lnTo>
                    <a:pt x="5000625" y="1494028"/>
                  </a:lnTo>
                  <a:lnTo>
                    <a:pt x="5000625" y="71196"/>
                  </a:lnTo>
                  <a:lnTo>
                    <a:pt x="4986959" y="29705"/>
                  </a:lnTo>
                  <a:lnTo>
                    <a:pt x="4955425" y="3886"/>
                  </a:lnTo>
                  <a:lnTo>
                    <a:pt x="4942662" y="482"/>
                  </a:lnTo>
                  <a:lnTo>
                    <a:pt x="4938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9112" y="2258275"/>
              <a:ext cx="5019675" cy="1599565"/>
            </a:xfrm>
            <a:custGeom>
              <a:avLst/>
              <a:gdLst/>
              <a:ahLst/>
              <a:cxnLst/>
              <a:rect l="l" t="t" r="r" b="b"/>
              <a:pathLst>
                <a:path w="5019675" h="1599564">
                  <a:moveTo>
                    <a:pt x="5019675" y="75361"/>
                  </a:moveTo>
                  <a:lnTo>
                    <a:pt x="5006848" y="33020"/>
                  </a:lnTo>
                  <a:lnTo>
                    <a:pt x="4972634" y="4965"/>
                  </a:lnTo>
                  <a:lnTo>
                    <a:pt x="4954244" y="0"/>
                  </a:lnTo>
                  <a:lnTo>
                    <a:pt x="4958346" y="1092"/>
                  </a:lnTo>
                  <a:lnTo>
                    <a:pt x="4972342" y="8826"/>
                  </a:lnTo>
                  <a:lnTo>
                    <a:pt x="4996269" y="46202"/>
                  </a:lnTo>
                  <a:lnTo>
                    <a:pt x="5000625" y="75361"/>
                  </a:lnTo>
                  <a:lnTo>
                    <a:pt x="5000625" y="1486395"/>
                  </a:lnTo>
                  <a:lnTo>
                    <a:pt x="4989525" y="1530705"/>
                  </a:lnTo>
                  <a:lnTo>
                    <a:pt x="4972621" y="1553248"/>
                  </a:lnTo>
                  <a:lnTo>
                    <a:pt x="4933937" y="1576285"/>
                  </a:lnTo>
                  <a:lnTo>
                    <a:pt x="4906022" y="1580337"/>
                  </a:lnTo>
                  <a:lnTo>
                    <a:pt x="113665" y="1580337"/>
                  </a:lnTo>
                  <a:lnTo>
                    <a:pt x="68656" y="1569199"/>
                  </a:lnTo>
                  <a:lnTo>
                    <a:pt x="47053" y="1553260"/>
                  </a:lnTo>
                  <a:lnTo>
                    <a:pt x="46913" y="1553121"/>
                  </a:lnTo>
                  <a:lnTo>
                    <a:pt x="46570" y="1552803"/>
                  </a:lnTo>
                  <a:lnTo>
                    <a:pt x="23075" y="1513611"/>
                  </a:lnTo>
                  <a:lnTo>
                    <a:pt x="19050" y="148639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6395"/>
                  </a:lnTo>
                  <a:lnTo>
                    <a:pt x="8597" y="1529626"/>
                  </a:lnTo>
                  <a:lnTo>
                    <a:pt x="33096" y="1566278"/>
                  </a:lnTo>
                  <a:lnTo>
                    <a:pt x="69748" y="1590763"/>
                  </a:lnTo>
                  <a:lnTo>
                    <a:pt x="112979" y="1599361"/>
                  </a:lnTo>
                  <a:lnTo>
                    <a:pt x="4906708" y="1599361"/>
                  </a:lnTo>
                  <a:lnTo>
                    <a:pt x="4949939" y="1590763"/>
                  </a:lnTo>
                  <a:lnTo>
                    <a:pt x="4969434" y="1580337"/>
                  </a:lnTo>
                  <a:lnTo>
                    <a:pt x="4978349" y="1573758"/>
                  </a:lnTo>
                  <a:lnTo>
                    <a:pt x="4986096" y="1566722"/>
                  </a:lnTo>
                  <a:lnTo>
                    <a:pt x="4986591" y="1566278"/>
                  </a:lnTo>
                  <a:lnTo>
                    <a:pt x="5011077" y="1529626"/>
                  </a:lnTo>
                  <a:lnTo>
                    <a:pt x="5019675" y="1486395"/>
                  </a:lnTo>
                  <a:lnTo>
                    <a:pt x="5019675" y="75361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19125" y="2038349"/>
              <a:ext cx="5019675" cy="447675"/>
            </a:xfrm>
            <a:custGeom>
              <a:avLst/>
              <a:gdLst/>
              <a:ahLst/>
              <a:cxnLst/>
              <a:rect l="l" t="t" r="r" b="b"/>
              <a:pathLst>
                <a:path w="5019675" h="447675">
                  <a:moveTo>
                    <a:pt x="5019675" y="271221"/>
                  </a:moveTo>
                  <a:lnTo>
                    <a:pt x="5004054" y="229730"/>
                  </a:lnTo>
                  <a:lnTo>
                    <a:pt x="4968011" y="203911"/>
                  </a:lnTo>
                  <a:lnTo>
                    <a:pt x="4948479" y="200025"/>
                  </a:lnTo>
                  <a:lnTo>
                    <a:pt x="2735084" y="200025"/>
                  </a:lnTo>
                  <a:lnTo>
                    <a:pt x="2734564" y="194602"/>
                  </a:lnTo>
                  <a:lnTo>
                    <a:pt x="2724581" y="151841"/>
                  </a:lnTo>
                  <a:lnTo>
                    <a:pt x="2706471" y="111848"/>
                  </a:lnTo>
                  <a:lnTo>
                    <a:pt x="2680893" y="76174"/>
                  </a:lnTo>
                  <a:lnTo>
                    <a:pt x="2648851" y="46151"/>
                  </a:lnTo>
                  <a:lnTo>
                    <a:pt x="2611564" y="22974"/>
                  </a:lnTo>
                  <a:lnTo>
                    <a:pt x="2570480" y="7505"/>
                  </a:lnTo>
                  <a:lnTo>
                    <a:pt x="2527160" y="355"/>
                  </a:lnTo>
                  <a:lnTo>
                    <a:pt x="2519845" y="0"/>
                  </a:lnTo>
                  <a:lnTo>
                    <a:pt x="2505189" y="0"/>
                  </a:lnTo>
                  <a:lnTo>
                    <a:pt x="2461653" y="5727"/>
                  </a:lnTo>
                  <a:lnTo>
                    <a:pt x="2420086" y="19850"/>
                  </a:lnTo>
                  <a:lnTo>
                    <a:pt x="2382062" y="41795"/>
                  </a:lnTo>
                  <a:lnTo>
                    <a:pt x="2349055" y="70739"/>
                  </a:lnTo>
                  <a:lnTo>
                    <a:pt x="2322334" y="105575"/>
                  </a:lnTo>
                  <a:lnTo>
                    <a:pt x="2302916" y="144945"/>
                  </a:lnTo>
                  <a:lnTo>
                    <a:pt x="2291550" y="187363"/>
                  </a:lnTo>
                  <a:lnTo>
                    <a:pt x="2289937" y="200025"/>
                  </a:lnTo>
                  <a:lnTo>
                    <a:pt x="71183" y="200025"/>
                  </a:lnTo>
                  <a:lnTo>
                    <a:pt x="29705" y="215646"/>
                  </a:lnTo>
                  <a:lnTo>
                    <a:pt x="3873" y="251688"/>
                  </a:lnTo>
                  <a:lnTo>
                    <a:pt x="0" y="271221"/>
                  </a:lnTo>
                  <a:lnTo>
                    <a:pt x="0" y="276225"/>
                  </a:lnTo>
                  <a:lnTo>
                    <a:pt x="2294788" y="276225"/>
                  </a:lnTo>
                  <a:lnTo>
                    <a:pt x="2296185" y="281800"/>
                  </a:lnTo>
                  <a:lnTo>
                    <a:pt x="2311654" y="322884"/>
                  </a:lnTo>
                  <a:lnTo>
                    <a:pt x="2334831" y="360172"/>
                  </a:lnTo>
                  <a:lnTo>
                    <a:pt x="2364854" y="392214"/>
                  </a:lnTo>
                  <a:lnTo>
                    <a:pt x="2400528" y="417791"/>
                  </a:lnTo>
                  <a:lnTo>
                    <a:pt x="2440521" y="435914"/>
                  </a:lnTo>
                  <a:lnTo>
                    <a:pt x="2483281" y="445884"/>
                  </a:lnTo>
                  <a:lnTo>
                    <a:pt x="2505189" y="447675"/>
                  </a:lnTo>
                  <a:lnTo>
                    <a:pt x="2519845" y="447675"/>
                  </a:lnTo>
                  <a:lnTo>
                    <a:pt x="2563380" y="441947"/>
                  </a:lnTo>
                  <a:lnTo>
                    <a:pt x="2604947" y="427837"/>
                  </a:lnTo>
                  <a:lnTo>
                    <a:pt x="2642971" y="405879"/>
                  </a:lnTo>
                  <a:lnTo>
                    <a:pt x="2675979" y="376923"/>
                  </a:lnTo>
                  <a:lnTo>
                    <a:pt x="2702699" y="342099"/>
                  </a:lnTo>
                  <a:lnTo>
                    <a:pt x="2722118" y="302717"/>
                  </a:lnTo>
                  <a:lnTo>
                    <a:pt x="2730233" y="276225"/>
                  </a:lnTo>
                  <a:lnTo>
                    <a:pt x="5019675" y="276225"/>
                  </a:lnTo>
                  <a:lnTo>
                    <a:pt x="5019675" y="271221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6266" y="2167698"/>
              <a:ext cx="150458" cy="18868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77125" y="2618485"/>
            <a:ext cx="4478655" cy="1043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90" b="1">
                <a:solidFill>
                  <a:srgbClr val="1E2F62"/>
                </a:solidFill>
                <a:latin typeface="Calibri"/>
                <a:cs typeface="Calibri"/>
              </a:rPr>
              <a:t>File</a:t>
            </a:r>
            <a:r>
              <a:rPr dirty="0" sz="145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120" b="1">
                <a:solidFill>
                  <a:srgbClr val="1E2F62"/>
                </a:solidFill>
                <a:latin typeface="Calibri"/>
                <a:cs typeface="Calibri"/>
              </a:rPr>
              <a:t>Handling</a:t>
            </a:r>
            <a:r>
              <a:rPr dirty="0" sz="145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75" b="1">
                <a:solidFill>
                  <a:srgbClr val="1E2F62"/>
                </a:solidFill>
                <a:latin typeface="Calibri"/>
                <a:cs typeface="Calibri"/>
              </a:rPr>
              <a:t>Integration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505"/>
              </a:spcBef>
            </a:pP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Implement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persistent</a:t>
            </a:r>
            <a:r>
              <a:rPr dirty="0" sz="11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storage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1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menus,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customer</a:t>
            </a:r>
            <a:r>
              <a:rPr dirty="0" sz="1150" spc="-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80">
                <a:solidFill>
                  <a:srgbClr val="1E2F62"/>
                </a:solidFill>
                <a:latin typeface="Century Gothic"/>
                <a:cs typeface="Century Gothic"/>
              </a:rPr>
              <a:t>data,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5">
                <a:solidFill>
                  <a:srgbClr val="1E2F62"/>
                </a:solidFill>
                <a:latin typeface="Century Gothic"/>
                <a:cs typeface="Century Gothic"/>
              </a:rPr>
              <a:t>and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transaction</a:t>
            </a:r>
            <a:r>
              <a:rPr dirty="0" sz="1150" spc="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history</a:t>
            </a:r>
            <a:r>
              <a:rPr dirty="0" sz="1150" spc="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using</a:t>
            </a:r>
            <a:r>
              <a:rPr dirty="0" sz="1150" spc="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file</a:t>
            </a:r>
            <a:r>
              <a:rPr dirty="0" sz="1150" spc="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operations,</a:t>
            </a:r>
            <a:r>
              <a:rPr dirty="0" sz="1150" spc="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ensuring</a:t>
            </a:r>
            <a:r>
              <a:rPr dirty="0" sz="1150" spc="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data</a:t>
            </a:r>
            <a:r>
              <a:rPr dirty="0" sz="1150" spc="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retention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across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35">
                <a:solidFill>
                  <a:srgbClr val="1E2F62"/>
                </a:solidFill>
                <a:latin typeface="Century Gothic"/>
                <a:cs typeface="Century Gothic"/>
              </a:rPr>
              <a:t>sessions.</a:t>
            </a:r>
            <a:endParaRPr sz="1150">
              <a:latin typeface="Century Gothic"/>
              <a:cs typeface="Century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91199" y="2038350"/>
            <a:ext cx="5019675" cy="1819275"/>
            <a:chOff x="5791199" y="2038350"/>
            <a:chExt cx="5019675" cy="1819275"/>
          </a:xfrm>
        </p:grpSpPr>
        <p:sp>
          <p:nvSpPr>
            <p:cNvPr id="11" name="object 11"/>
            <p:cNvSpPr/>
            <p:nvPr/>
          </p:nvSpPr>
          <p:spPr>
            <a:xfrm>
              <a:off x="5800724" y="2257425"/>
              <a:ext cx="5000625" cy="1590675"/>
            </a:xfrm>
            <a:custGeom>
              <a:avLst/>
              <a:gdLst/>
              <a:ahLst/>
              <a:cxnLst/>
              <a:rect l="l" t="t" r="r" b="b"/>
              <a:pathLst>
                <a:path w="5000625" h="1590675">
                  <a:moveTo>
                    <a:pt x="49383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7233"/>
                  </a:lnTo>
                  <a:lnTo>
                    <a:pt x="0" y="1494028"/>
                  </a:lnTo>
                  <a:lnTo>
                    <a:pt x="10477" y="1533093"/>
                  </a:lnTo>
                  <a:lnTo>
                    <a:pt x="35102" y="1565173"/>
                  </a:lnTo>
                  <a:lnTo>
                    <a:pt x="70129" y="1585391"/>
                  </a:lnTo>
                  <a:lnTo>
                    <a:pt x="96659" y="1590675"/>
                  </a:lnTo>
                  <a:lnTo>
                    <a:pt x="4903965" y="1590675"/>
                  </a:lnTo>
                  <a:lnTo>
                    <a:pt x="4943043" y="1580197"/>
                  </a:lnTo>
                  <a:lnTo>
                    <a:pt x="4975136" y="1555572"/>
                  </a:lnTo>
                  <a:lnTo>
                    <a:pt x="4995354" y="1520532"/>
                  </a:lnTo>
                  <a:lnTo>
                    <a:pt x="5000625" y="1494028"/>
                  </a:lnTo>
                  <a:lnTo>
                    <a:pt x="5000625" y="71196"/>
                  </a:lnTo>
                  <a:lnTo>
                    <a:pt x="4986959" y="29705"/>
                  </a:lnTo>
                  <a:lnTo>
                    <a:pt x="4955413" y="3886"/>
                  </a:lnTo>
                  <a:lnTo>
                    <a:pt x="4942662" y="482"/>
                  </a:lnTo>
                  <a:lnTo>
                    <a:pt x="4938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91187" y="2258275"/>
              <a:ext cx="5019675" cy="1599565"/>
            </a:xfrm>
            <a:custGeom>
              <a:avLst/>
              <a:gdLst/>
              <a:ahLst/>
              <a:cxnLst/>
              <a:rect l="l" t="t" r="r" b="b"/>
              <a:pathLst>
                <a:path w="5019675" h="1599564">
                  <a:moveTo>
                    <a:pt x="5019675" y="75361"/>
                  </a:moveTo>
                  <a:lnTo>
                    <a:pt x="5006848" y="33020"/>
                  </a:lnTo>
                  <a:lnTo>
                    <a:pt x="4972634" y="4965"/>
                  </a:lnTo>
                  <a:lnTo>
                    <a:pt x="4954232" y="0"/>
                  </a:lnTo>
                  <a:lnTo>
                    <a:pt x="4958346" y="1092"/>
                  </a:lnTo>
                  <a:lnTo>
                    <a:pt x="4972342" y="8826"/>
                  </a:lnTo>
                  <a:lnTo>
                    <a:pt x="4996269" y="46202"/>
                  </a:lnTo>
                  <a:lnTo>
                    <a:pt x="5000625" y="75361"/>
                  </a:lnTo>
                  <a:lnTo>
                    <a:pt x="5000625" y="1486395"/>
                  </a:lnTo>
                  <a:lnTo>
                    <a:pt x="4989525" y="1530705"/>
                  </a:lnTo>
                  <a:lnTo>
                    <a:pt x="4972621" y="1553248"/>
                  </a:lnTo>
                  <a:lnTo>
                    <a:pt x="4933937" y="1576285"/>
                  </a:lnTo>
                  <a:lnTo>
                    <a:pt x="4906022" y="1580337"/>
                  </a:lnTo>
                  <a:lnTo>
                    <a:pt x="113665" y="1580337"/>
                  </a:lnTo>
                  <a:lnTo>
                    <a:pt x="68656" y="1569199"/>
                  </a:lnTo>
                  <a:lnTo>
                    <a:pt x="47053" y="1553260"/>
                  </a:lnTo>
                  <a:lnTo>
                    <a:pt x="46558" y="1552803"/>
                  </a:lnTo>
                  <a:lnTo>
                    <a:pt x="23075" y="1513611"/>
                  </a:lnTo>
                  <a:lnTo>
                    <a:pt x="19050" y="148639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6395"/>
                  </a:lnTo>
                  <a:lnTo>
                    <a:pt x="8597" y="1529626"/>
                  </a:lnTo>
                  <a:lnTo>
                    <a:pt x="33083" y="1566278"/>
                  </a:lnTo>
                  <a:lnTo>
                    <a:pt x="69735" y="1590763"/>
                  </a:lnTo>
                  <a:lnTo>
                    <a:pt x="112966" y="1599361"/>
                  </a:lnTo>
                  <a:lnTo>
                    <a:pt x="4906708" y="1599361"/>
                  </a:lnTo>
                  <a:lnTo>
                    <a:pt x="4949939" y="1590763"/>
                  </a:lnTo>
                  <a:lnTo>
                    <a:pt x="4969434" y="1580337"/>
                  </a:lnTo>
                  <a:lnTo>
                    <a:pt x="4978349" y="1573758"/>
                  </a:lnTo>
                  <a:lnTo>
                    <a:pt x="4986096" y="1566722"/>
                  </a:lnTo>
                  <a:lnTo>
                    <a:pt x="4986591" y="1566278"/>
                  </a:lnTo>
                  <a:lnTo>
                    <a:pt x="5011077" y="1529626"/>
                  </a:lnTo>
                  <a:lnTo>
                    <a:pt x="5019675" y="1486395"/>
                  </a:lnTo>
                  <a:lnTo>
                    <a:pt x="5019675" y="75361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91200" y="2038349"/>
              <a:ext cx="5019675" cy="447675"/>
            </a:xfrm>
            <a:custGeom>
              <a:avLst/>
              <a:gdLst/>
              <a:ahLst/>
              <a:cxnLst/>
              <a:rect l="l" t="t" r="r" b="b"/>
              <a:pathLst>
                <a:path w="5019675" h="447675">
                  <a:moveTo>
                    <a:pt x="5019675" y="271221"/>
                  </a:moveTo>
                  <a:lnTo>
                    <a:pt x="5004054" y="229730"/>
                  </a:lnTo>
                  <a:lnTo>
                    <a:pt x="4968011" y="203911"/>
                  </a:lnTo>
                  <a:lnTo>
                    <a:pt x="4948479" y="200025"/>
                  </a:lnTo>
                  <a:lnTo>
                    <a:pt x="2735072" y="200025"/>
                  </a:lnTo>
                  <a:lnTo>
                    <a:pt x="2734551" y="194602"/>
                  </a:lnTo>
                  <a:lnTo>
                    <a:pt x="2724569" y="151841"/>
                  </a:lnTo>
                  <a:lnTo>
                    <a:pt x="2706459" y="111848"/>
                  </a:lnTo>
                  <a:lnTo>
                    <a:pt x="2680881" y="76174"/>
                  </a:lnTo>
                  <a:lnTo>
                    <a:pt x="2648839" y="46151"/>
                  </a:lnTo>
                  <a:lnTo>
                    <a:pt x="2611551" y="22974"/>
                  </a:lnTo>
                  <a:lnTo>
                    <a:pt x="2570467" y="7505"/>
                  </a:lnTo>
                  <a:lnTo>
                    <a:pt x="2527147" y="355"/>
                  </a:lnTo>
                  <a:lnTo>
                    <a:pt x="2519832" y="0"/>
                  </a:lnTo>
                  <a:lnTo>
                    <a:pt x="2495651" y="0"/>
                  </a:lnTo>
                  <a:lnTo>
                    <a:pt x="2452116" y="5727"/>
                  </a:lnTo>
                  <a:lnTo>
                    <a:pt x="2410549" y="19850"/>
                  </a:lnTo>
                  <a:lnTo>
                    <a:pt x="2372525" y="41795"/>
                  </a:lnTo>
                  <a:lnTo>
                    <a:pt x="2339517" y="70739"/>
                  </a:lnTo>
                  <a:lnTo>
                    <a:pt x="2312797" y="105575"/>
                  </a:lnTo>
                  <a:lnTo>
                    <a:pt x="2293378" y="144945"/>
                  </a:lnTo>
                  <a:lnTo>
                    <a:pt x="2282012" y="187363"/>
                  </a:lnTo>
                  <a:lnTo>
                    <a:pt x="2280399" y="200025"/>
                  </a:lnTo>
                  <a:lnTo>
                    <a:pt x="71196" y="200025"/>
                  </a:lnTo>
                  <a:lnTo>
                    <a:pt x="29705" y="215646"/>
                  </a:lnTo>
                  <a:lnTo>
                    <a:pt x="3886" y="251688"/>
                  </a:lnTo>
                  <a:lnTo>
                    <a:pt x="0" y="271221"/>
                  </a:lnTo>
                  <a:lnTo>
                    <a:pt x="0" y="276225"/>
                  </a:lnTo>
                  <a:lnTo>
                    <a:pt x="2285250" y="276225"/>
                  </a:lnTo>
                  <a:lnTo>
                    <a:pt x="2286647" y="281800"/>
                  </a:lnTo>
                  <a:lnTo>
                    <a:pt x="2302116" y="322884"/>
                  </a:lnTo>
                  <a:lnTo>
                    <a:pt x="2325293" y="360172"/>
                  </a:lnTo>
                  <a:lnTo>
                    <a:pt x="2355316" y="392214"/>
                  </a:lnTo>
                  <a:lnTo>
                    <a:pt x="2390991" y="417791"/>
                  </a:lnTo>
                  <a:lnTo>
                    <a:pt x="2430983" y="435914"/>
                  </a:lnTo>
                  <a:lnTo>
                    <a:pt x="2473744" y="445884"/>
                  </a:lnTo>
                  <a:lnTo>
                    <a:pt x="2495651" y="447675"/>
                  </a:lnTo>
                  <a:lnTo>
                    <a:pt x="2519832" y="447675"/>
                  </a:lnTo>
                  <a:lnTo>
                    <a:pt x="2563368" y="441947"/>
                  </a:lnTo>
                  <a:lnTo>
                    <a:pt x="2604935" y="427837"/>
                  </a:lnTo>
                  <a:lnTo>
                    <a:pt x="2642959" y="405879"/>
                  </a:lnTo>
                  <a:lnTo>
                    <a:pt x="2675966" y="376923"/>
                  </a:lnTo>
                  <a:lnTo>
                    <a:pt x="2702687" y="342099"/>
                  </a:lnTo>
                  <a:lnTo>
                    <a:pt x="2722105" y="302717"/>
                  </a:lnTo>
                  <a:lnTo>
                    <a:pt x="2730220" y="276225"/>
                  </a:lnTo>
                  <a:lnTo>
                    <a:pt x="5019675" y="276225"/>
                  </a:lnTo>
                  <a:lnTo>
                    <a:pt x="5019675" y="271221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5273" y="2167538"/>
              <a:ext cx="156723" cy="18884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947270" y="2618485"/>
            <a:ext cx="4496435" cy="1043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5" b="1">
                <a:solidFill>
                  <a:srgbClr val="1E2F62"/>
                </a:solidFill>
                <a:latin typeface="Calibri"/>
                <a:cs typeface="Calibri"/>
              </a:rPr>
              <a:t>Item-</a:t>
            </a:r>
            <a:r>
              <a:rPr dirty="0" sz="1450" spc="100" b="1">
                <a:solidFill>
                  <a:srgbClr val="1E2F62"/>
                </a:solidFill>
                <a:latin typeface="Calibri"/>
                <a:cs typeface="Calibri"/>
              </a:rPr>
              <a:t>wise</a:t>
            </a:r>
            <a:r>
              <a:rPr dirty="0" sz="14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55" b="1">
                <a:solidFill>
                  <a:srgbClr val="1E2F62"/>
                </a:solidFill>
                <a:latin typeface="Calibri"/>
                <a:cs typeface="Calibri"/>
              </a:rPr>
              <a:t>Bill</a:t>
            </a:r>
            <a:r>
              <a:rPr dirty="0" sz="1450" spc="-2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90" b="1">
                <a:solidFill>
                  <a:srgbClr val="1E2F62"/>
                </a:solidFill>
                <a:latin typeface="Calibri"/>
                <a:cs typeface="Calibri"/>
              </a:rPr>
              <a:t>Generation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8600"/>
              </a:lnSpc>
              <a:spcBef>
                <a:spcPts val="505"/>
              </a:spcBef>
            </a:pP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Provide</a:t>
            </a:r>
            <a:r>
              <a:rPr dirty="0" sz="11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50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1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detailed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breakdown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of</a:t>
            </a:r>
            <a:r>
              <a:rPr dirty="0" sz="11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95">
                <a:solidFill>
                  <a:srgbClr val="1E2F62"/>
                </a:solidFill>
                <a:latin typeface="Century Gothic"/>
                <a:cs typeface="Century Gothic"/>
              </a:rPr>
              <a:t>each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item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purchased</a:t>
            </a:r>
            <a:r>
              <a:rPr dirty="0" sz="1150" spc="-5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30">
                <a:solidFill>
                  <a:srgbClr val="1E2F62"/>
                </a:solidFill>
                <a:latin typeface="Century Gothic"/>
                <a:cs typeface="Century Gothic"/>
              </a:rPr>
              <a:t>on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1150" spc="-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bill,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including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quantity,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price,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individual</a:t>
            </a:r>
            <a:r>
              <a:rPr dirty="0" sz="1150" spc="-4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subtotal,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greater transparency.</a:t>
            </a:r>
            <a:endParaRPr sz="115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124" y="4010025"/>
            <a:ext cx="5019675" cy="1819275"/>
            <a:chOff x="619124" y="4010025"/>
            <a:chExt cx="5019675" cy="1819275"/>
          </a:xfrm>
        </p:grpSpPr>
        <p:sp>
          <p:nvSpPr>
            <p:cNvPr id="17" name="object 17"/>
            <p:cNvSpPr/>
            <p:nvPr/>
          </p:nvSpPr>
          <p:spPr>
            <a:xfrm>
              <a:off x="628649" y="4229099"/>
              <a:ext cx="5000625" cy="1590675"/>
            </a:xfrm>
            <a:custGeom>
              <a:avLst/>
              <a:gdLst/>
              <a:ahLst/>
              <a:cxnLst/>
              <a:rect l="l" t="t" r="r" b="b"/>
              <a:pathLst>
                <a:path w="5000625" h="1590675">
                  <a:moveTo>
                    <a:pt x="4938331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7230"/>
                  </a:lnTo>
                  <a:lnTo>
                    <a:pt x="0" y="1494021"/>
                  </a:lnTo>
                  <a:lnTo>
                    <a:pt x="10472" y="1533089"/>
                  </a:lnTo>
                  <a:lnTo>
                    <a:pt x="35104" y="1565177"/>
                  </a:lnTo>
                  <a:lnTo>
                    <a:pt x="70133" y="1585398"/>
                  </a:lnTo>
                  <a:lnTo>
                    <a:pt x="96653" y="1590671"/>
                  </a:lnTo>
                  <a:lnTo>
                    <a:pt x="4903965" y="1590671"/>
                  </a:lnTo>
                  <a:lnTo>
                    <a:pt x="4943043" y="1580198"/>
                  </a:lnTo>
                  <a:lnTo>
                    <a:pt x="4975123" y="1555572"/>
                  </a:lnTo>
                  <a:lnTo>
                    <a:pt x="4995354" y="1520538"/>
                  </a:lnTo>
                  <a:lnTo>
                    <a:pt x="5000625" y="1494021"/>
                  </a:lnTo>
                  <a:lnTo>
                    <a:pt x="5000625" y="71196"/>
                  </a:lnTo>
                  <a:lnTo>
                    <a:pt x="4986959" y="29705"/>
                  </a:lnTo>
                  <a:lnTo>
                    <a:pt x="4955425" y="3886"/>
                  </a:lnTo>
                  <a:lnTo>
                    <a:pt x="4942662" y="482"/>
                  </a:lnTo>
                  <a:lnTo>
                    <a:pt x="4938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9112" y="4229950"/>
              <a:ext cx="5019675" cy="1599565"/>
            </a:xfrm>
            <a:custGeom>
              <a:avLst/>
              <a:gdLst/>
              <a:ahLst/>
              <a:cxnLst/>
              <a:rect l="l" t="t" r="r" b="b"/>
              <a:pathLst>
                <a:path w="5019675" h="1599564">
                  <a:moveTo>
                    <a:pt x="5019675" y="75361"/>
                  </a:moveTo>
                  <a:lnTo>
                    <a:pt x="5006848" y="33020"/>
                  </a:lnTo>
                  <a:lnTo>
                    <a:pt x="4972634" y="4965"/>
                  </a:lnTo>
                  <a:lnTo>
                    <a:pt x="4954244" y="0"/>
                  </a:lnTo>
                  <a:lnTo>
                    <a:pt x="4958346" y="1092"/>
                  </a:lnTo>
                  <a:lnTo>
                    <a:pt x="4972342" y="8826"/>
                  </a:lnTo>
                  <a:lnTo>
                    <a:pt x="4996269" y="46202"/>
                  </a:lnTo>
                  <a:lnTo>
                    <a:pt x="5000625" y="75361"/>
                  </a:lnTo>
                  <a:lnTo>
                    <a:pt x="5000625" y="1486382"/>
                  </a:lnTo>
                  <a:lnTo>
                    <a:pt x="4989525" y="1530705"/>
                  </a:lnTo>
                  <a:lnTo>
                    <a:pt x="4972621" y="1553248"/>
                  </a:lnTo>
                  <a:lnTo>
                    <a:pt x="4933937" y="1576285"/>
                  </a:lnTo>
                  <a:lnTo>
                    <a:pt x="4906188" y="1580337"/>
                  </a:lnTo>
                  <a:lnTo>
                    <a:pt x="113499" y="1580337"/>
                  </a:lnTo>
                  <a:lnTo>
                    <a:pt x="68656" y="1569199"/>
                  </a:lnTo>
                  <a:lnTo>
                    <a:pt x="47053" y="1553260"/>
                  </a:lnTo>
                  <a:lnTo>
                    <a:pt x="46570" y="1552803"/>
                  </a:lnTo>
                  <a:lnTo>
                    <a:pt x="23075" y="1513611"/>
                  </a:lnTo>
                  <a:lnTo>
                    <a:pt x="19050" y="148638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6382"/>
                  </a:lnTo>
                  <a:lnTo>
                    <a:pt x="8597" y="1529613"/>
                  </a:lnTo>
                  <a:lnTo>
                    <a:pt x="33096" y="1566265"/>
                  </a:lnTo>
                  <a:lnTo>
                    <a:pt x="69748" y="1590751"/>
                  </a:lnTo>
                  <a:lnTo>
                    <a:pt x="112979" y="1599361"/>
                  </a:lnTo>
                  <a:lnTo>
                    <a:pt x="4906708" y="1599361"/>
                  </a:lnTo>
                  <a:lnTo>
                    <a:pt x="4949939" y="1590751"/>
                  </a:lnTo>
                  <a:lnTo>
                    <a:pt x="4986083" y="1566722"/>
                  </a:lnTo>
                  <a:lnTo>
                    <a:pt x="5011077" y="1529613"/>
                  </a:lnTo>
                  <a:lnTo>
                    <a:pt x="5019675" y="1486382"/>
                  </a:lnTo>
                  <a:lnTo>
                    <a:pt x="5019675" y="75361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9125" y="4010024"/>
              <a:ext cx="5019675" cy="447675"/>
            </a:xfrm>
            <a:custGeom>
              <a:avLst/>
              <a:gdLst/>
              <a:ahLst/>
              <a:cxnLst/>
              <a:rect l="l" t="t" r="r" b="b"/>
              <a:pathLst>
                <a:path w="5019675" h="447675">
                  <a:moveTo>
                    <a:pt x="5019675" y="271221"/>
                  </a:moveTo>
                  <a:lnTo>
                    <a:pt x="5004054" y="229730"/>
                  </a:lnTo>
                  <a:lnTo>
                    <a:pt x="4968011" y="203911"/>
                  </a:lnTo>
                  <a:lnTo>
                    <a:pt x="4948479" y="200025"/>
                  </a:lnTo>
                  <a:lnTo>
                    <a:pt x="2735084" y="200025"/>
                  </a:lnTo>
                  <a:lnTo>
                    <a:pt x="2734564" y="194602"/>
                  </a:lnTo>
                  <a:lnTo>
                    <a:pt x="2724581" y="151841"/>
                  </a:lnTo>
                  <a:lnTo>
                    <a:pt x="2706471" y="111848"/>
                  </a:lnTo>
                  <a:lnTo>
                    <a:pt x="2680893" y="76174"/>
                  </a:lnTo>
                  <a:lnTo>
                    <a:pt x="2648851" y="46151"/>
                  </a:lnTo>
                  <a:lnTo>
                    <a:pt x="2611564" y="22974"/>
                  </a:lnTo>
                  <a:lnTo>
                    <a:pt x="2570480" y="7505"/>
                  </a:lnTo>
                  <a:lnTo>
                    <a:pt x="2527160" y="355"/>
                  </a:lnTo>
                  <a:lnTo>
                    <a:pt x="2519845" y="0"/>
                  </a:lnTo>
                  <a:lnTo>
                    <a:pt x="2505189" y="0"/>
                  </a:lnTo>
                  <a:lnTo>
                    <a:pt x="2461653" y="5727"/>
                  </a:lnTo>
                  <a:lnTo>
                    <a:pt x="2420086" y="19850"/>
                  </a:lnTo>
                  <a:lnTo>
                    <a:pt x="2382062" y="41795"/>
                  </a:lnTo>
                  <a:lnTo>
                    <a:pt x="2349055" y="70739"/>
                  </a:lnTo>
                  <a:lnTo>
                    <a:pt x="2322334" y="105575"/>
                  </a:lnTo>
                  <a:lnTo>
                    <a:pt x="2302916" y="144945"/>
                  </a:lnTo>
                  <a:lnTo>
                    <a:pt x="2291550" y="187363"/>
                  </a:lnTo>
                  <a:lnTo>
                    <a:pt x="2289937" y="200025"/>
                  </a:lnTo>
                  <a:lnTo>
                    <a:pt x="71183" y="200025"/>
                  </a:lnTo>
                  <a:lnTo>
                    <a:pt x="29705" y="215646"/>
                  </a:lnTo>
                  <a:lnTo>
                    <a:pt x="3873" y="251688"/>
                  </a:lnTo>
                  <a:lnTo>
                    <a:pt x="0" y="271221"/>
                  </a:lnTo>
                  <a:lnTo>
                    <a:pt x="0" y="276225"/>
                  </a:lnTo>
                  <a:lnTo>
                    <a:pt x="2294788" y="276225"/>
                  </a:lnTo>
                  <a:lnTo>
                    <a:pt x="2296185" y="281800"/>
                  </a:lnTo>
                  <a:lnTo>
                    <a:pt x="2311654" y="322884"/>
                  </a:lnTo>
                  <a:lnTo>
                    <a:pt x="2334831" y="360172"/>
                  </a:lnTo>
                  <a:lnTo>
                    <a:pt x="2364854" y="392214"/>
                  </a:lnTo>
                  <a:lnTo>
                    <a:pt x="2400528" y="417791"/>
                  </a:lnTo>
                  <a:lnTo>
                    <a:pt x="2440521" y="435914"/>
                  </a:lnTo>
                  <a:lnTo>
                    <a:pt x="2483281" y="445884"/>
                  </a:lnTo>
                  <a:lnTo>
                    <a:pt x="2505189" y="447675"/>
                  </a:lnTo>
                  <a:lnTo>
                    <a:pt x="2519845" y="447675"/>
                  </a:lnTo>
                  <a:lnTo>
                    <a:pt x="2563380" y="441947"/>
                  </a:lnTo>
                  <a:lnTo>
                    <a:pt x="2604947" y="427837"/>
                  </a:lnTo>
                  <a:lnTo>
                    <a:pt x="2642971" y="405879"/>
                  </a:lnTo>
                  <a:lnTo>
                    <a:pt x="2675979" y="376923"/>
                  </a:lnTo>
                  <a:lnTo>
                    <a:pt x="2702699" y="342099"/>
                  </a:lnTo>
                  <a:lnTo>
                    <a:pt x="2722118" y="302717"/>
                  </a:lnTo>
                  <a:lnTo>
                    <a:pt x="2730233" y="276225"/>
                  </a:lnTo>
                  <a:lnTo>
                    <a:pt x="5019675" y="276225"/>
                  </a:lnTo>
                  <a:lnTo>
                    <a:pt x="5019675" y="271221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7153" y="4145304"/>
              <a:ext cx="188672" cy="17681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77125" y="4590160"/>
            <a:ext cx="4292600" cy="1043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35" b="1">
                <a:solidFill>
                  <a:srgbClr val="1E2F62"/>
                </a:solidFill>
                <a:latin typeface="Calibri"/>
                <a:cs typeface="Calibri"/>
              </a:rPr>
              <a:t>GUI-based</a:t>
            </a:r>
            <a:r>
              <a:rPr dirty="0" sz="1450" spc="-3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135" b="1">
                <a:solidFill>
                  <a:srgbClr val="1E2F62"/>
                </a:solidFill>
                <a:latin typeface="Calibri"/>
                <a:cs typeface="Calibri"/>
              </a:rPr>
              <a:t>System</a:t>
            </a:r>
            <a:endParaRPr sz="1450">
              <a:latin typeface="Calibri"/>
              <a:cs typeface="Calibri"/>
            </a:endParaRPr>
          </a:p>
          <a:p>
            <a:pPr algn="just" marL="12700" marR="5080">
              <a:lnSpc>
                <a:spcPct val="138600"/>
              </a:lnSpc>
              <a:spcBef>
                <a:spcPts val="505"/>
              </a:spcBef>
            </a:pPr>
            <a:r>
              <a:rPr dirty="0" sz="1150" spc="35">
                <a:solidFill>
                  <a:srgbClr val="1E2F62"/>
                </a:solidFill>
                <a:latin typeface="Century Gothic"/>
                <a:cs typeface="Century Gothic"/>
              </a:rPr>
              <a:t>Transition</a:t>
            </a:r>
            <a:r>
              <a:rPr dirty="0" sz="115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30">
                <a:solidFill>
                  <a:srgbClr val="1E2F62"/>
                </a:solidFill>
                <a:latin typeface="Century Gothic"/>
                <a:cs typeface="Century Gothic"/>
              </a:rPr>
              <a:t>from</a:t>
            </a:r>
            <a:r>
              <a:rPr dirty="0" sz="115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4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console-</a:t>
            </a:r>
            <a:r>
              <a:rPr dirty="0" sz="1150" spc="-5">
                <a:solidFill>
                  <a:srgbClr val="1E2F62"/>
                </a:solidFill>
                <a:latin typeface="Century Gothic"/>
                <a:cs typeface="Century Gothic"/>
              </a:rPr>
              <a:t>based</a:t>
            </a:r>
            <a:r>
              <a:rPr dirty="0" sz="115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interface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to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4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40">
                <a:solidFill>
                  <a:srgbClr val="1E2F62"/>
                </a:solidFill>
                <a:latin typeface="Century Gothic"/>
                <a:cs typeface="Century Gothic"/>
              </a:rPr>
              <a:t>Graphical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55">
                <a:solidFill>
                  <a:srgbClr val="1E2F62"/>
                </a:solidFill>
                <a:latin typeface="Century Gothic"/>
                <a:cs typeface="Century Gothic"/>
              </a:rPr>
              <a:t>User</a:t>
            </a:r>
            <a:r>
              <a:rPr dirty="0" sz="11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5">
                <a:solidFill>
                  <a:srgbClr val="1E2F62"/>
                </a:solidFill>
                <a:latin typeface="Century Gothic"/>
                <a:cs typeface="Century Gothic"/>
              </a:rPr>
              <a:t>Interface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5">
                <a:solidFill>
                  <a:srgbClr val="1E2F62"/>
                </a:solidFill>
                <a:latin typeface="Century Gothic"/>
                <a:cs typeface="Century Gothic"/>
              </a:rPr>
              <a:t>(GUI)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25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45">
                <a:solidFill>
                  <a:srgbClr val="1E2F62"/>
                </a:solidFill>
                <a:latin typeface="Century Gothic"/>
                <a:cs typeface="Century Gothic"/>
              </a:rPr>
              <a:t>a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5">
                <a:solidFill>
                  <a:srgbClr val="1E2F62"/>
                </a:solidFill>
                <a:latin typeface="Century Gothic"/>
                <a:cs typeface="Century Gothic"/>
              </a:rPr>
              <a:t>more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20">
                <a:solidFill>
                  <a:srgbClr val="1E2F62"/>
                </a:solidFill>
                <a:latin typeface="Century Gothic"/>
                <a:cs typeface="Century Gothic"/>
              </a:rPr>
              <a:t>intuitive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7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20">
                <a:solidFill>
                  <a:srgbClr val="1E2F62"/>
                </a:solidFill>
                <a:latin typeface="Century Gothic"/>
                <a:cs typeface="Century Gothic"/>
              </a:rPr>
              <a:t>visually</a:t>
            </a:r>
            <a:r>
              <a:rPr dirty="0" sz="115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50">
                <a:solidFill>
                  <a:srgbClr val="1E2F62"/>
                </a:solidFill>
                <a:latin typeface="Century Gothic"/>
                <a:cs typeface="Century Gothic"/>
              </a:rPr>
              <a:t>appealing</a:t>
            </a:r>
            <a:r>
              <a:rPr dirty="0" sz="115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35">
                <a:solidFill>
                  <a:srgbClr val="1E2F62"/>
                </a:solidFill>
                <a:latin typeface="Century Gothic"/>
                <a:cs typeface="Century Gothic"/>
              </a:rPr>
              <a:t>user</a:t>
            </a:r>
            <a:r>
              <a:rPr dirty="0" sz="1150" spc="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35">
                <a:solidFill>
                  <a:srgbClr val="1E2F62"/>
                </a:solidFill>
                <a:latin typeface="Century Gothic"/>
                <a:cs typeface="Century Gothic"/>
              </a:rPr>
              <a:t>experience.</a:t>
            </a:r>
            <a:endParaRPr sz="1150">
              <a:latin typeface="Century Gothic"/>
              <a:cs typeface="Century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91199" y="4010025"/>
            <a:ext cx="5019675" cy="1819275"/>
            <a:chOff x="5791199" y="4010025"/>
            <a:chExt cx="5019675" cy="1819275"/>
          </a:xfrm>
        </p:grpSpPr>
        <p:sp>
          <p:nvSpPr>
            <p:cNvPr id="23" name="object 23"/>
            <p:cNvSpPr/>
            <p:nvPr/>
          </p:nvSpPr>
          <p:spPr>
            <a:xfrm>
              <a:off x="5800724" y="4229099"/>
              <a:ext cx="5000625" cy="1590675"/>
            </a:xfrm>
            <a:custGeom>
              <a:avLst/>
              <a:gdLst/>
              <a:ahLst/>
              <a:cxnLst/>
              <a:rect l="l" t="t" r="r" b="b"/>
              <a:pathLst>
                <a:path w="5000625" h="1590675">
                  <a:moveTo>
                    <a:pt x="493833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487230"/>
                  </a:lnTo>
                  <a:lnTo>
                    <a:pt x="0" y="1494021"/>
                  </a:lnTo>
                  <a:lnTo>
                    <a:pt x="10477" y="1533089"/>
                  </a:lnTo>
                  <a:lnTo>
                    <a:pt x="35102" y="1565177"/>
                  </a:lnTo>
                  <a:lnTo>
                    <a:pt x="70129" y="1585398"/>
                  </a:lnTo>
                  <a:lnTo>
                    <a:pt x="96659" y="1590671"/>
                  </a:lnTo>
                  <a:lnTo>
                    <a:pt x="4903965" y="1590671"/>
                  </a:lnTo>
                  <a:lnTo>
                    <a:pt x="4943043" y="1580198"/>
                  </a:lnTo>
                  <a:lnTo>
                    <a:pt x="4975136" y="1555572"/>
                  </a:lnTo>
                  <a:lnTo>
                    <a:pt x="4995354" y="1520538"/>
                  </a:lnTo>
                  <a:lnTo>
                    <a:pt x="5000625" y="1494021"/>
                  </a:lnTo>
                  <a:lnTo>
                    <a:pt x="5000625" y="71196"/>
                  </a:lnTo>
                  <a:lnTo>
                    <a:pt x="4986959" y="29705"/>
                  </a:lnTo>
                  <a:lnTo>
                    <a:pt x="4955413" y="3886"/>
                  </a:lnTo>
                  <a:lnTo>
                    <a:pt x="4942662" y="482"/>
                  </a:lnTo>
                  <a:lnTo>
                    <a:pt x="4938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91187" y="4229950"/>
              <a:ext cx="5019675" cy="1599565"/>
            </a:xfrm>
            <a:custGeom>
              <a:avLst/>
              <a:gdLst/>
              <a:ahLst/>
              <a:cxnLst/>
              <a:rect l="l" t="t" r="r" b="b"/>
              <a:pathLst>
                <a:path w="5019675" h="1599564">
                  <a:moveTo>
                    <a:pt x="5019675" y="75361"/>
                  </a:moveTo>
                  <a:lnTo>
                    <a:pt x="5006848" y="33020"/>
                  </a:lnTo>
                  <a:lnTo>
                    <a:pt x="4972634" y="4965"/>
                  </a:lnTo>
                  <a:lnTo>
                    <a:pt x="4954232" y="0"/>
                  </a:lnTo>
                  <a:lnTo>
                    <a:pt x="4958346" y="1092"/>
                  </a:lnTo>
                  <a:lnTo>
                    <a:pt x="4972342" y="8826"/>
                  </a:lnTo>
                  <a:lnTo>
                    <a:pt x="4996269" y="46202"/>
                  </a:lnTo>
                  <a:lnTo>
                    <a:pt x="5000625" y="75361"/>
                  </a:lnTo>
                  <a:lnTo>
                    <a:pt x="5000625" y="1486382"/>
                  </a:lnTo>
                  <a:lnTo>
                    <a:pt x="4989525" y="1530705"/>
                  </a:lnTo>
                  <a:lnTo>
                    <a:pt x="4972621" y="1553248"/>
                  </a:lnTo>
                  <a:lnTo>
                    <a:pt x="4933937" y="1576285"/>
                  </a:lnTo>
                  <a:lnTo>
                    <a:pt x="4906188" y="1580337"/>
                  </a:lnTo>
                  <a:lnTo>
                    <a:pt x="113499" y="1580337"/>
                  </a:lnTo>
                  <a:lnTo>
                    <a:pt x="68656" y="1569199"/>
                  </a:lnTo>
                  <a:lnTo>
                    <a:pt x="47053" y="1553260"/>
                  </a:lnTo>
                  <a:lnTo>
                    <a:pt x="46570" y="1552803"/>
                  </a:lnTo>
                  <a:lnTo>
                    <a:pt x="23075" y="1513611"/>
                  </a:lnTo>
                  <a:lnTo>
                    <a:pt x="19050" y="148638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486382"/>
                  </a:lnTo>
                  <a:lnTo>
                    <a:pt x="8597" y="1529613"/>
                  </a:lnTo>
                  <a:lnTo>
                    <a:pt x="33083" y="1566265"/>
                  </a:lnTo>
                  <a:lnTo>
                    <a:pt x="33591" y="1566722"/>
                  </a:lnTo>
                  <a:lnTo>
                    <a:pt x="41338" y="1573758"/>
                  </a:lnTo>
                  <a:lnTo>
                    <a:pt x="80225" y="1594523"/>
                  </a:lnTo>
                  <a:lnTo>
                    <a:pt x="112966" y="1599361"/>
                  </a:lnTo>
                  <a:lnTo>
                    <a:pt x="4906708" y="1599361"/>
                  </a:lnTo>
                  <a:lnTo>
                    <a:pt x="4949939" y="1590751"/>
                  </a:lnTo>
                  <a:lnTo>
                    <a:pt x="4986083" y="1566722"/>
                  </a:lnTo>
                  <a:lnTo>
                    <a:pt x="5011077" y="1529613"/>
                  </a:lnTo>
                  <a:lnTo>
                    <a:pt x="5019675" y="1486382"/>
                  </a:lnTo>
                  <a:lnTo>
                    <a:pt x="5019675" y="75361"/>
                  </a:lnTo>
                  <a:close/>
                </a:path>
              </a:pathLst>
            </a:custGeom>
            <a:solidFill>
              <a:srgbClr val="B3CC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791200" y="4010024"/>
              <a:ext cx="5019675" cy="447675"/>
            </a:xfrm>
            <a:custGeom>
              <a:avLst/>
              <a:gdLst/>
              <a:ahLst/>
              <a:cxnLst/>
              <a:rect l="l" t="t" r="r" b="b"/>
              <a:pathLst>
                <a:path w="5019675" h="447675">
                  <a:moveTo>
                    <a:pt x="5019675" y="271221"/>
                  </a:moveTo>
                  <a:lnTo>
                    <a:pt x="5004054" y="229730"/>
                  </a:lnTo>
                  <a:lnTo>
                    <a:pt x="4968011" y="203911"/>
                  </a:lnTo>
                  <a:lnTo>
                    <a:pt x="4948479" y="200025"/>
                  </a:lnTo>
                  <a:lnTo>
                    <a:pt x="2735072" y="200025"/>
                  </a:lnTo>
                  <a:lnTo>
                    <a:pt x="2734551" y="194602"/>
                  </a:lnTo>
                  <a:lnTo>
                    <a:pt x="2724569" y="151841"/>
                  </a:lnTo>
                  <a:lnTo>
                    <a:pt x="2706459" y="111848"/>
                  </a:lnTo>
                  <a:lnTo>
                    <a:pt x="2680881" y="76174"/>
                  </a:lnTo>
                  <a:lnTo>
                    <a:pt x="2648839" y="46151"/>
                  </a:lnTo>
                  <a:lnTo>
                    <a:pt x="2611551" y="22974"/>
                  </a:lnTo>
                  <a:lnTo>
                    <a:pt x="2570467" y="7505"/>
                  </a:lnTo>
                  <a:lnTo>
                    <a:pt x="2527147" y="355"/>
                  </a:lnTo>
                  <a:lnTo>
                    <a:pt x="2519832" y="0"/>
                  </a:lnTo>
                  <a:lnTo>
                    <a:pt x="2495651" y="0"/>
                  </a:lnTo>
                  <a:lnTo>
                    <a:pt x="2452116" y="5727"/>
                  </a:lnTo>
                  <a:lnTo>
                    <a:pt x="2410549" y="19850"/>
                  </a:lnTo>
                  <a:lnTo>
                    <a:pt x="2372525" y="41795"/>
                  </a:lnTo>
                  <a:lnTo>
                    <a:pt x="2339517" y="70739"/>
                  </a:lnTo>
                  <a:lnTo>
                    <a:pt x="2312797" y="105575"/>
                  </a:lnTo>
                  <a:lnTo>
                    <a:pt x="2293378" y="144945"/>
                  </a:lnTo>
                  <a:lnTo>
                    <a:pt x="2282012" y="187363"/>
                  </a:lnTo>
                  <a:lnTo>
                    <a:pt x="2280399" y="200025"/>
                  </a:lnTo>
                  <a:lnTo>
                    <a:pt x="71196" y="200025"/>
                  </a:lnTo>
                  <a:lnTo>
                    <a:pt x="29705" y="215646"/>
                  </a:lnTo>
                  <a:lnTo>
                    <a:pt x="3886" y="251688"/>
                  </a:lnTo>
                  <a:lnTo>
                    <a:pt x="0" y="271221"/>
                  </a:lnTo>
                  <a:lnTo>
                    <a:pt x="0" y="276225"/>
                  </a:lnTo>
                  <a:lnTo>
                    <a:pt x="2285250" y="276225"/>
                  </a:lnTo>
                  <a:lnTo>
                    <a:pt x="2286647" y="281800"/>
                  </a:lnTo>
                  <a:lnTo>
                    <a:pt x="2302116" y="322884"/>
                  </a:lnTo>
                  <a:lnTo>
                    <a:pt x="2325293" y="360172"/>
                  </a:lnTo>
                  <a:lnTo>
                    <a:pt x="2355316" y="392214"/>
                  </a:lnTo>
                  <a:lnTo>
                    <a:pt x="2390991" y="417791"/>
                  </a:lnTo>
                  <a:lnTo>
                    <a:pt x="2430983" y="435914"/>
                  </a:lnTo>
                  <a:lnTo>
                    <a:pt x="2473744" y="445884"/>
                  </a:lnTo>
                  <a:lnTo>
                    <a:pt x="2495651" y="447675"/>
                  </a:lnTo>
                  <a:lnTo>
                    <a:pt x="2519832" y="447675"/>
                  </a:lnTo>
                  <a:lnTo>
                    <a:pt x="2563368" y="441947"/>
                  </a:lnTo>
                  <a:lnTo>
                    <a:pt x="2604935" y="427837"/>
                  </a:lnTo>
                  <a:lnTo>
                    <a:pt x="2642959" y="405879"/>
                  </a:lnTo>
                  <a:lnTo>
                    <a:pt x="2675966" y="376923"/>
                  </a:lnTo>
                  <a:lnTo>
                    <a:pt x="2702687" y="342099"/>
                  </a:lnTo>
                  <a:lnTo>
                    <a:pt x="2722105" y="302717"/>
                  </a:lnTo>
                  <a:lnTo>
                    <a:pt x="2730220" y="276225"/>
                  </a:lnTo>
                  <a:lnTo>
                    <a:pt x="5019675" y="276225"/>
                  </a:lnTo>
                  <a:lnTo>
                    <a:pt x="5019675" y="271221"/>
                  </a:lnTo>
                  <a:close/>
                </a:path>
              </a:pathLst>
            </a:custGeom>
            <a:solidFill>
              <a:srgbClr val="84C1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6661" y="4139370"/>
              <a:ext cx="153818" cy="18869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47270" y="4590160"/>
            <a:ext cx="4267200" cy="7962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95" b="1">
                <a:solidFill>
                  <a:srgbClr val="1E2F62"/>
                </a:solidFill>
                <a:latin typeface="Calibri"/>
                <a:cs typeface="Calibri"/>
              </a:rPr>
              <a:t>Network</a:t>
            </a:r>
            <a:r>
              <a:rPr dirty="0" sz="1450" spc="-15" b="1">
                <a:solidFill>
                  <a:srgbClr val="1E2F62"/>
                </a:solidFill>
                <a:latin typeface="Calibri"/>
                <a:cs typeface="Calibri"/>
              </a:rPr>
              <a:t> </a:t>
            </a:r>
            <a:r>
              <a:rPr dirty="0" sz="1450" spc="90" b="1">
                <a:solidFill>
                  <a:srgbClr val="1E2F62"/>
                </a:solidFill>
                <a:latin typeface="Calibri"/>
                <a:cs typeface="Calibri"/>
              </a:rPr>
              <a:t>Functionality</a:t>
            </a:r>
            <a:endParaRPr sz="1450">
              <a:latin typeface="Calibri"/>
              <a:cs typeface="Calibri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Explore</a:t>
            </a:r>
            <a:r>
              <a:rPr dirty="0" sz="1150" spc="6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integration</a:t>
            </a:r>
            <a:r>
              <a:rPr dirty="0" sz="1150" spc="5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with</a:t>
            </a:r>
            <a:r>
              <a:rPr dirty="0" sz="1150" spc="6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network</a:t>
            </a:r>
            <a:r>
              <a:rPr dirty="0" sz="1150" spc="6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protocols</a:t>
            </a:r>
            <a:r>
              <a:rPr dirty="0" sz="1150" spc="6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for</a:t>
            </a:r>
            <a:r>
              <a:rPr dirty="0" sz="1150" spc="6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multi-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terminal </a:t>
            </a:r>
            <a:r>
              <a:rPr dirty="0" sz="1150">
                <a:solidFill>
                  <a:srgbClr val="1E2F62"/>
                </a:solidFill>
                <a:latin typeface="Century Gothic"/>
                <a:cs typeface="Century Gothic"/>
              </a:rPr>
              <a:t>support</a:t>
            </a:r>
            <a:r>
              <a:rPr dirty="0" sz="11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75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1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20">
                <a:solidFill>
                  <a:srgbClr val="1E2F62"/>
                </a:solidFill>
                <a:latin typeface="Century Gothic"/>
                <a:cs typeface="Century Gothic"/>
              </a:rPr>
              <a:t>remote</a:t>
            </a:r>
            <a:r>
              <a:rPr dirty="0" sz="1150" spc="-3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order</a:t>
            </a:r>
            <a:r>
              <a:rPr dirty="0" sz="1150" spc="-2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150" spc="-10">
                <a:solidFill>
                  <a:srgbClr val="1E2F62"/>
                </a:solidFill>
                <a:latin typeface="Century Gothic"/>
                <a:cs typeface="Century Gothic"/>
              </a:rPr>
              <a:t>management.</a:t>
            </a:r>
            <a:endParaRPr sz="11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34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10"/>
              </a:spcBef>
            </a:pPr>
            <a:r>
              <a:rPr dirty="0" spc="215"/>
              <a:t>Envisioning</a:t>
            </a:r>
            <a:r>
              <a:rPr dirty="0" spc="-95"/>
              <a:t> </a:t>
            </a:r>
            <a:r>
              <a:rPr dirty="0" spc="170"/>
              <a:t>Growth:</a:t>
            </a:r>
            <a:r>
              <a:rPr dirty="0" spc="-90"/>
              <a:t> </a:t>
            </a:r>
            <a:r>
              <a:rPr dirty="0" spc="190"/>
              <a:t>Future</a:t>
            </a:r>
            <a:r>
              <a:rPr dirty="0" spc="-95"/>
              <a:t> </a:t>
            </a:r>
            <a:r>
              <a:rPr dirty="0" spc="295"/>
              <a:t>System</a:t>
            </a:r>
            <a:r>
              <a:rPr dirty="0" spc="-90"/>
              <a:t> </a:t>
            </a:r>
            <a:r>
              <a:rPr dirty="0" spc="155"/>
              <a:t>Evolution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33650" y="1809749"/>
            <a:ext cx="1266825" cy="971550"/>
            <a:chOff x="2533650" y="1809749"/>
            <a:chExt cx="1266825" cy="971550"/>
          </a:xfrm>
        </p:grpSpPr>
        <p:sp>
          <p:nvSpPr>
            <p:cNvPr id="4" name="object 4"/>
            <p:cNvSpPr/>
            <p:nvPr/>
          </p:nvSpPr>
          <p:spPr>
            <a:xfrm>
              <a:off x="2533650" y="1809749"/>
              <a:ext cx="1266825" cy="971550"/>
            </a:xfrm>
            <a:custGeom>
              <a:avLst/>
              <a:gdLst/>
              <a:ahLst/>
              <a:cxnLst/>
              <a:rect l="l" t="t" r="r" b="b"/>
              <a:pathLst>
                <a:path w="1266825" h="971550">
                  <a:moveTo>
                    <a:pt x="1148854" y="0"/>
                  </a:moveTo>
                  <a:lnTo>
                    <a:pt x="117970" y="0"/>
                  </a:lnTo>
                  <a:lnTo>
                    <a:pt x="109766" y="812"/>
                  </a:lnTo>
                  <a:lnTo>
                    <a:pt x="70281" y="12788"/>
                  </a:lnTo>
                  <a:lnTo>
                    <a:pt x="31115" y="42849"/>
                  </a:lnTo>
                  <a:lnTo>
                    <a:pt x="6438" y="85598"/>
                  </a:lnTo>
                  <a:lnTo>
                    <a:pt x="0" y="117970"/>
                  </a:lnTo>
                  <a:lnTo>
                    <a:pt x="0" y="845286"/>
                  </a:lnTo>
                  <a:lnTo>
                    <a:pt x="0" y="853579"/>
                  </a:lnTo>
                  <a:lnTo>
                    <a:pt x="12788" y="901268"/>
                  </a:lnTo>
                  <a:lnTo>
                    <a:pt x="42837" y="940435"/>
                  </a:lnTo>
                  <a:lnTo>
                    <a:pt x="85598" y="965111"/>
                  </a:lnTo>
                  <a:lnTo>
                    <a:pt x="117970" y="971550"/>
                  </a:lnTo>
                  <a:lnTo>
                    <a:pt x="1148854" y="971550"/>
                  </a:lnTo>
                  <a:lnTo>
                    <a:pt x="1196543" y="958761"/>
                  </a:lnTo>
                  <a:lnTo>
                    <a:pt x="1235710" y="928700"/>
                  </a:lnTo>
                  <a:lnTo>
                    <a:pt x="1260386" y="885939"/>
                  </a:lnTo>
                  <a:lnTo>
                    <a:pt x="1266825" y="853579"/>
                  </a:lnTo>
                  <a:lnTo>
                    <a:pt x="1266825" y="117970"/>
                  </a:lnTo>
                  <a:lnTo>
                    <a:pt x="1254036" y="70281"/>
                  </a:lnTo>
                  <a:lnTo>
                    <a:pt x="1223987" y="31115"/>
                  </a:lnTo>
                  <a:lnTo>
                    <a:pt x="1181227" y="6438"/>
                  </a:lnTo>
                  <a:lnTo>
                    <a:pt x="1157058" y="812"/>
                  </a:lnTo>
                  <a:lnTo>
                    <a:pt x="1148854" y="0"/>
                  </a:lnTo>
                  <a:close/>
                </a:path>
              </a:pathLst>
            </a:custGeom>
            <a:solidFill>
              <a:srgbClr val="CEE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0183" y="2175983"/>
              <a:ext cx="212298" cy="247121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886200" y="2776537"/>
            <a:ext cx="6838950" cy="9525"/>
          </a:xfrm>
          <a:custGeom>
            <a:avLst/>
            <a:gdLst/>
            <a:ahLst/>
            <a:cxnLst/>
            <a:rect l="l" t="t" r="r" b="b"/>
            <a:pathLst>
              <a:path w="6838950" h="9525">
                <a:moveTo>
                  <a:pt x="6832054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6832054" y="9525"/>
                </a:lnTo>
                <a:lnTo>
                  <a:pt x="6834301" y="9055"/>
                </a:lnTo>
                <a:lnTo>
                  <a:pt x="6838023" y="7200"/>
                </a:lnTo>
                <a:lnTo>
                  <a:pt x="6838950" y="6083"/>
                </a:lnTo>
                <a:lnTo>
                  <a:pt x="6838950" y="3454"/>
                </a:lnTo>
                <a:lnTo>
                  <a:pt x="6838023" y="2324"/>
                </a:lnTo>
                <a:lnTo>
                  <a:pt x="6834301" y="457"/>
                </a:lnTo>
                <a:lnTo>
                  <a:pt x="6832054" y="0"/>
                </a:lnTo>
                <a:close/>
              </a:path>
            </a:pathLst>
          </a:custGeom>
          <a:solidFill>
            <a:srgbClr val="B3CC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895475" y="2867024"/>
            <a:ext cx="2543175" cy="971550"/>
            <a:chOff x="1895475" y="2867024"/>
            <a:chExt cx="2543175" cy="971550"/>
          </a:xfrm>
        </p:grpSpPr>
        <p:sp>
          <p:nvSpPr>
            <p:cNvPr id="8" name="object 8"/>
            <p:cNvSpPr/>
            <p:nvPr/>
          </p:nvSpPr>
          <p:spPr>
            <a:xfrm>
              <a:off x="1895475" y="2867024"/>
              <a:ext cx="2543175" cy="971550"/>
            </a:xfrm>
            <a:custGeom>
              <a:avLst/>
              <a:gdLst/>
              <a:ahLst/>
              <a:cxnLst/>
              <a:rect l="l" t="t" r="r" b="b"/>
              <a:pathLst>
                <a:path w="2543175" h="971550">
                  <a:moveTo>
                    <a:pt x="2425204" y="0"/>
                  </a:moveTo>
                  <a:lnTo>
                    <a:pt x="117970" y="0"/>
                  </a:lnTo>
                  <a:lnTo>
                    <a:pt x="109766" y="812"/>
                  </a:lnTo>
                  <a:lnTo>
                    <a:pt x="70281" y="12776"/>
                  </a:lnTo>
                  <a:lnTo>
                    <a:pt x="31115" y="42849"/>
                  </a:lnTo>
                  <a:lnTo>
                    <a:pt x="6438" y="85598"/>
                  </a:lnTo>
                  <a:lnTo>
                    <a:pt x="0" y="117970"/>
                  </a:lnTo>
                  <a:lnTo>
                    <a:pt x="0" y="845286"/>
                  </a:lnTo>
                  <a:lnTo>
                    <a:pt x="0" y="853579"/>
                  </a:lnTo>
                  <a:lnTo>
                    <a:pt x="12788" y="901268"/>
                  </a:lnTo>
                  <a:lnTo>
                    <a:pt x="42837" y="940435"/>
                  </a:lnTo>
                  <a:lnTo>
                    <a:pt x="85598" y="965111"/>
                  </a:lnTo>
                  <a:lnTo>
                    <a:pt x="117970" y="971550"/>
                  </a:lnTo>
                  <a:lnTo>
                    <a:pt x="2425204" y="971550"/>
                  </a:lnTo>
                  <a:lnTo>
                    <a:pt x="2472893" y="958761"/>
                  </a:lnTo>
                  <a:lnTo>
                    <a:pt x="2512060" y="928700"/>
                  </a:lnTo>
                  <a:lnTo>
                    <a:pt x="2536736" y="885939"/>
                  </a:lnTo>
                  <a:lnTo>
                    <a:pt x="2543175" y="853579"/>
                  </a:lnTo>
                  <a:lnTo>
                    <a:pt x="2543175" y="117970"/>
                  </a:lnTo>
                  <a:lnTo>
                    <a:pt x="2530386" y="70281"/>
                  </a:lnTo>
                  <a:lnTo>
                    <a:pt x="2500337" y="31115"/>
                  </a:lnTo>
                  <a:lnTo>
                    <a:pt x="2457577" y="6438"/>
                  </a:lnTo>
                  <a:lnTo>
                    <a:pt x="2433408" y="812"/>
                  </a:lnTo>
                  <a:lnTo>
                    <a:pt x="2425204" y="0"/>
                  </a:lnTo>
                  <a:close/>
                </a:path>
              </a:pathLst>
            </a:custGeom>
            <a:solidFill>
              <a:srgbClr val="CEE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2825" y="3233300"/>
              <a:ext cx="246999" cy="24703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4524375" y="3833812"/>
            <a:ext cx="6200775" cy="9525"/>
          </a:xfrm>
          <a:custGeom>
            <a:avLst/>
            <a:gdLst/>
            <a:ahLst/>
            <a:cxnLst/>
            <a:rect l="l" t="t" r="r" b="b"/>
            <a:pathLst>
              <a:path w="6200775" h="9525">
                <a:moveTo>
                  <a:pt x="6193878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6193878" y="9525"/>
                </a:lnTo>
                <a:lnTo>
                  <a:pt x="6196126" y="9055"/>
                </a:lnTo>
                <a:lnTo>
                  <a:pt x="6199847" y="7200"/>
                </a:lnTo>
                <a:lnTo>
                  <a:pt x="6200775" y="6083"/>
                </a:lnTo>
                <a:lnTo>
                  <a:pt x="6200775" y="3454"/>
                </a:lnTo>
                <a:lnTo>
                  <a:pt x="6199847" y="2324"/>
                </a:lnTo>
                <a:lnTo>
                  <a:pt x="6196126" y="457"/>
                </a:lnTo>
                <a:lnTo>
                  <a:pt x="6193878" y="0"/>
                </a:lnTo>
                <a:close/>
              </a:path>
            </a:pathLst>
          </a:custGeom>
          <a:solidFill>
            <a:srgbClr val="B3CC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1257300" y="3924300"/>
            <a:ext cx="3819525" cy="971550"/>
            <a:chOff x="1257300" y="3924300"/>
            <a:chExt cx="3819525" cy="971550"/>
          </a:xfrm>
        </p:grpSpPr>
        <p:sp>
          <p:nvSpPr>
            <p:cNvPr id="12" name="object 12"/>
            <p:cNvSpPr/>
            <p:nvPr/>
          </p:nvSpPr>
          <p:spPr>
            <a:xfrm>
              <a:off x="1257300" y="3924300"/>
              <a:ext cx="3819525" cy="971550"/>
            </a:xfrm>
            <a:custGeom>
              <a:avLst/>
              <a:gdLst/>
              <a:ahLst/>
              <a:cxnLst/>
              <a:rect l="l" t="t" r="r" b="b"/>
              <a:pathLst>
                <a:path w="3819525" h="971550">
                  <a:moveTo>
                    <a:pt x="3701554" y="0"/>
                  </a:moveTo>
                  <a:lnTo>
                    <a:pt x="117970" y="0"/>
                  </a:lnTo>
                  <a:lnTo>
                    <a:pt x="109766" y="812"/>
                  </a:lnTo>
                  <a:lnTo>
                    <a:pt x="70281" y="12776"/>
                  </a:lnTo>
                  <a:lnTo>
                    <a:pt x="31115" y="42849"/>
                  </a:lnTo>
                  <a:lnTo>
                    <a:pt x="6438" y="85598"/>
                  </a:lnTo>
                  <a:lnTo>
                    <a:pt x="0" y="117970"/>
                  </a:lnTo>
                  <a:lnTo>
                    <a:pt x="0" y="845286"/>
                  </a:lnTo>
                  <a:lnTo>
                    <a:pt x="0" y="853579"/>
                  </a:lnTo>
                  <a:lnTo>
                    <a:pt x="12788" y="901268"/>
                  </a:lnTo>
                  <a:lnTo>
                    <a:pt x="42837" y="940435"/>
                  </a:lnTo>
                  <a:lnTo>
                    <a:pt x="85598" y="965111"/>
                  </a:lnTo>
                  <a:lnTo>
                    <a:pt x="117970" y="971550"/>
                  </a:lnTo>
                  <a:lnTo>
                    <a:pt x="3701554" y="971550"/>
                  </a:lnTo>
                  <a:lnTo>
                    <a:pt x="3749243" y="958761"/>
                  </a:lnTo>
                  <a:lnTo>
                    <a:pt x="3788410" y="928700"/>
                  </a:lnTo>
                  <a:lnTo>
                    <a:pt x="3813086" y="885939"/>
                  </a:lnTo>
                  <a:lnTo>
                    <a:pt x="3819525" y="853579"/>
                  </a:lnTo>
                  <a:lnTo>
                    <a:pt x="3819525" y="117970"/>
                  </a:lnTo>
                  <a:lnTo>
                    <a:pt x="3806736" y="70281"/>
                  </a:lnTo>
                  <a:lnTo>
                    <a:pt x="3776687" y="31115"/>
                  </a:lnTo>
                  <a:lnTo>
                    <a:pt x="3733914" y="6438"/>
                  </a:lnTo>
                  <a:lnTo>
                    <a:pt x="3709758" y="812"/>
                  </a:lnTo>
                  <a:lnTo>
                    <a:pt x="3701554" y="0"/>
                  </a:lnTo>
                  <a:close/>
                </a:path>
              </a:pathLst>
            </a:custGeom>
            <a:solidFill>
              <a:srgbClr val="CEE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2762" y="4306349"/>
              <a:ext cx="247279" cy="196428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5162550" y="4891087"/>
            <a:ext cx="5562600" cy="9525"/>
          </a:xfrm>
          <a:custGeom>
            <a:avLst/>
            <a:gdLst/>
            <a:ahLst/>
            <a:cxnLst/>
            <a:rect l="l" t="t" r="r" b="b"/>
            <a:pathLst>
              <a:path w="5562600" h="9525">
                <a:moveTo>
                  <a:pt x="5555703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54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5555703" y="9525"/>
                </a:lnTo>
                <a:lnTo>
                  <a:pt x="5557951" y="9055"/>
                </a:lnTo>
                <a:lnTo>
                  <a:pt x="5561672" y="7200"/>
                </a:lnTo>
                <a:lnTo>
                  <a:pt x="5562600" y="6083"/>
                </a:lnTo>
                <a:lnTo>
                  <a:pt x="5562600" y="3454"/>
                </a:lnTo>
                <a:lnTo>
                  <a:pt x="5561672" y="2324"/>
                </a:lnTo>
                <a:lnTo>
                  <a:pt x="5557951" y="457"/>
                </a:lnTo>
                <a:lnTo>
                  <a:pt x="5555703" y="0"/>
                </a:lnTo>
                <a:close/>
              </a:path>
            </a:pathLst>
          </a:custGeom>
          <a:solidFill>
            <a:srgbClr val="B3CCE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619125" y="4972050"/>
            <a:ext cx="5095875" cy="971550"/>
            <a:chOff x="619125" y="4972050"/>
            <a:chExt cx="5095875" cy="971550"/>
          </a:xfrm>
        </p:grpSpPr>
        <p:sp>
          <p:nvSpPr>
            <p:cNvPr id="16" name="object 16"/>
            <p:cNvSpPr/>
            <p:nvPr/>
          </p:nvSpPr>
          <p:spPr>
            <a:xfrm>
              <a:off x="619125" y="4972050"/>
              <a:ext cx="5095875" cy="971550"/>
            </a:xfrm>
            <a:custGeom>
              <a:avLst/>
              <a:gdLst/>
              <a:ahLst/>
              <a:cxnLst/>
              <a:rect l="l" t="t" r="r" b="b"/>
              <a:pathLst>
                <a:path w="5095875" h="971550">
                  <a:moveTo>
                    <a:pt x="4977904" y="0"/>
                  </a:moveTo>
                  <a:lnTo>
                    <a:pt x="117971" y="0"/>
                  </a:lnTo>
                  <a:lnTo>
                    <a:pt x="109761" y="812"/>
                  </a:lnTo>
                  <a:lnTo>
                    <a:pt x="70281" y="12776"/>
                  </a:lnTo>
                  <a:lnTo>
                    <a:pt x="31120" y="42849"/>
                  </a:lnTo>
                  <a:lnTo>
                    <a:pt x="6438" y="85598"/>
                  </a:lnTo>
                  <a:lnTo>
                    <a:pt x="0" y="117970"/>
                  </a:lnTo>
                  <a:lnTo>
                    <a:pt x="0" y="845285"/>
                  </a:lnTo>
                  <a:lnTo>
                    <a:pt x="0" y="853579"/>
                  </a:lnTo>
                  <a:lnTo>
                    <a:pt x="12783" y="901264"/>
                  </a:lnTo>
                  <a:lnTo>
                    <a:pt x="42842" y="940431"/>
                  </a:lnTo>
                  <a:lnTo>
                    <a:pt x="85600" y="965111"/>
                  </a:lnTo>
                  <a:lnTo>
                    <a:pt x="117971" y="971546"/>
                  </a:lnTo>
                  <a:lnTo>
                    <a:pt x="4977904" y="971546"/>
                  </a:lnTo>
                  <a:lnTo>
                    <a:pt x="5025593" y="958766"/>
                  </a:lnTo>
                  <a:lnTo>
                    <a:pt x="5064760" y="928702"/>
                  </a:lnTo>
                  <a:lnTo>
                    <a:pt x="5089436" y="885945"/>
                  </a:lnTo>
                  <a:lnTo>
                    <a:pt x="5095875" y="853579"/>
                  </a:lnTo>
                  <a:lnTo>
                    <a:pt x="5095875" y="117970"/>
                  </a:lnTo>
                  <a:lnTo>
                    <a:pt x="5083086" y="70281"/>
                  </a:lnTo>
                  <a:lnTo>
                    <a:pt x="5053037" y="31115"/>
                  </a:lnTo>
                  <a:lnTo>
                    <a:pt x="5010277" y="6438"/>
                  </a:lnTo>
                  <a:lnTo>
                    <a:pt x="4986108" y="812"/>
                  </a:lnTo>
                  <a:lnTo>
                    <a:pt x="4977904" y="0"/>
                  </a:lnTo>
                  <a:close/>
                </a:path>
              </a:pathLst>
            </a:custGeom>
            <a:solidFill>
              <a:srgbClr val="CEE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2866" y="5338235"/>
              <a:ext cx="246906" cy="24712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Imagine </a:t>
            </a:r>
            <a:r>
              <a:rPr dirty="0" spc="-175"/>
              <a:t>a</a:t>
            </a:r>
            <a:r>
              <a:rPr dirty="0" spc="-40"/>
              <a:t> </a:t>
            </a:r>
            <a:r>
              <a:rPr dirty="0"/>
              <a:t>future</a:t>
            </a:r>
            <a:r>
              <a:rPr dirty="0" spc="-40"/>
              <a:t> where </a:t>
            </a:r>
            <a:r>
              <a:rPr dirty="0"/>
              <a:t>our</a:t>
            </a:r>
            <a:r>
              <a:rPr dirty="0" spc="-40"/>
              <a:t> </a:t>
            </a:r>
            <a:r>
              <a:rPr dirty="0"/>
              <a:t>system</a:t>
            </a:r>
            <a:r>
              <a:rPr dirty="0" spc="-40"/>
              <a:t> </a:t>
            </a:r>
            <a:r>
              <a:rPr dirty="0" spc="-35"/>
              <a:t>evolves</a:t>
            </a:r>
            <a:r>
              <a:rPr dirty="0" spc="-40"/>
              <a:t> </a:t>
            </a:r>
            <a:r>
              <a:rPr dirty="0"/>
              <a:t>into</a:t>
            </a:r>
            <a:r>
              <a:rPr dirty="0" spc="-35"/>
              <a:t> </a:t>
            </a:r>
            <a:r>
              <a:rPr dirty="0" spc="-175"/>
              <a:t>a</a:t>
            </a:r>
            <a:r>
              <a:rPr dirty="0" spc="-40"/>
              <a:t> </a:t>
            </a:r>
            <a:r>
              <a:rPr dirty="0" spc="-35"/>
              <a:t>comprehensive</a:t>
            </a:r>
            <a:r>
              <a:rPr dirty="0" spc="-40"/>
              <a:t> </a:t>
            </a:r>
            <a:r>
              <a:rPr dirty="0"/>
              <a:t>restaurant</a:t>
            </a:r>
            <a:r>
              <a:rPr dirty="0" spc="-40"/>
              <a:t> </a:t>
            </a:r>
            <a:r>
              <a:rPr dirty="0" spc="-65"/>
              <a:t>management</a:t>
            </a:r>
            <a:r>
              <a:rPr dirty="0" spc="-40"/>
              <a:t> </a:t>
            </a:r>
            <a:r>
              <a:rPr dirty="0" spc="-10"/>
              <a:t>platform.</a:t>
            </a:r>
          </a:p>
          <a:p>
            <a:pPr>
              <a:lnSpc>
                <a:spcPct val="100000"/>
              </a:lnSpc>
              <a:spcBef>
                <a:spcPts val="1520"/>
              </a:spcBef>
            </a:pPr>
          </a:p>
          <a:p>
            <a:pPr marL="3364865">
              <a:lnSpc>
                <a:spcPct val="100000"/>
              </a:lnSpc>
            </a:pPr>
            <a:r>
              <a:rPr dirty="0" sz="1650" spc="135" b="1">
                <a:latin typeface="Calibri"/>
                <a:cs typeface="Calibri"/>
              </a:rPr>
              <a:t>Customer</a:t>
            </a:r>
            <a:r>
              <a:rPr dirty="0" sz="1650" spc="-20" b="1">
                <a:latin typeface="Calibri"/>
                <a:cs typeface="Calibri"/>
              </a:rPr>
              <a:t> </a:t>
            </a:r>
            <a:r>
              <a:rPr dirty="0" sz="1650" spc="80" b="1">
                <a:latin typeface="Calibri"/>
                <a:cs typeface="Calibri"/>
              </a:rPr>
              <a:t>Loyalty</a:t>
            </a:r>
            <a:endParaRPr sz="1650">
              <a:latin typeface="Calibri"/>
              <a:cs typeface="Calibri"/>
            </a:endParaRPr>
          </a:p>
          <a:p>
            <a:pPr marL="3364865">
              <a:lnSpc>
                <a:spcPct val="100000"/>
              </a:lnSpc>
              <a:spcBef>
                <a:spcPts val="1145"/>
              </a:spcBef>
            </a:pPr>
            <a:r>
              <a:rPr dirty="0" spc="-20"/>
              <a:t>Implement</a:t>
            </a:r>
            <a:r>
              <a:rPr dirty="0" spc="-55"/>
              <a:t> </a:t>
            </a:r>
            <a:r>
              <a:rPr dirty="0" spc="-10"/>
              <a:t>features</a:t>
            </a:r>
            <a:r>
              <a:rPr dirty="0" spc="-55"/>
              <a:t> </a:t>
            </a:r>
            <a:r>
              <a:rPr dirty="0"/>
              <a:t>like</a:t>
            </a:r>
            <a:r>
              <a:rPr dirty="0" spc="-50"/>
              <a:t> </a:t>
            </a:r>
            <a:r>
              <a:rPr dirty="0" spc="-10"/>
              <a:t>loyalty</a:t>
            </a:r>
            <a:r>
              <a:rPr dirty="0" spc="-55"/>
              <a:t> </a:t>
            </a:r>
            <a:r>
              <a:rPr dirty="0"/>
              <a:t>points</a:t>
            </a:r>
            <a:r>
              <a:rPr dirty="0" spc="-55"/>
              <a:t> </a:t>
            </a:r>
            <a:r>
              <a:rPr dirty="0" spc="-85"/>
              <a:t>and</a:t>
            </a:r>
            <a:r>
              <a:rPr dirty="0" spc="-50"/>
              <a:t> </a:t>
            </a:r>
            <a:r>
              <a:rPr dirty="0" spc="-10"/>
              <a:t>personalised</a:t>
            </a:r>
            <a:r>
              <a:rPr dirty="0" spc="-55"/>
              <a:t> </a:t>
            </a:r>
            <a:r>
              <a:rPr dirty="0" spc="-10"/>
              <a:t>offers.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50"/>
              </a:spcBef>
            </a:pPr>
          </a:p>
          <a:p>
            <a:pPr marL="4001770">
              <a:lnSpc>
                <a:spcPct val="100000"/>
              </a:lnSpc>
            </a:pPr>
            <a:r>
              <a:rPr dirty="0" sz="1650" spc="130" b="1">
                <a:latin typeface="Calibri"/>
                <a:cs typeface="Calibri"/>
              </a:rPr>
              <a:t>Sales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spc="105" b="1">
                <a:latin typeface="Calibri"/>
                <a:cs typeface="Calibri"/>
              </a:rPr>
              <a:t>Analytics</a:t>
            </a:r>
            <a:endParaRPr sz="1650">
              <a:latin typeface="Calibri"/>
              <a:cs typeface="Calibri"/>
            </a:endParaRPr>
          </a:p>
          <a:p>
            <a:pPr marL="4001770">
              <a:lnSpc>
                <a:spcPct val="100000"/>
              </a:lnSpc>
              <a:spcBef>
                <a:spcPts val="1145"/>
              </a:spcBef>
            </a:pPr>
            <a:r>
              <a:rPr dirty="0" spc="-10"/>
              <a:t>Provide</a:t>
            </a:r>
            <a:r>
              <a:rPr dirty="0" spc="-35"/>
              <a:t> </a:t>
            </a:r>
            <a:r>
              <a:rPr dirty="0" spc="-50"/>
              <a:t>detailed</a:t>
            </a:r>
            <a:r>
              <a:rPr dirty="0" spc="-30"/>
              <a:t> </a:t>
            </a:r>
            <a:r>
              <a:rPr dirty="0"/>
              <a:t>reports</a:t>
            </a:r>
            <a:r>
              <a:rPr dirty="0" spc="-30"/>
              <a:t> </a:t>
            </a:r>
            <a:r>
              <a:rPr dirty="0" spc="-40"/>
              <a:t>on</a:t>
            </a:r>
            <a:r>
              <a:rPr dirty="0" spc="-30"/>
              <a:t> </a:t>
            </a:r>
            <a:r>
              <a:rPr dirty="0" spc="-35"/>
              <a:t>popular </a:t>
            </a:r>
            <a:r>
              <a:rPr dirty="0"/>
              <a:t>items</a:t>
            </a:r>
            <a:r>
              <a:rPr dirty="0" spc="-30"/>
              <a:t> </a:t>
            </a:r>
            <a:r>
              <a:rPr dirty="0" spc="-85"/>
              <a:t>and</a:t>
            </a:r>
            <a:r>
              <a:rPr dirty="0" spc="-30"/>
              <a:t> </a:t>
            </a:r>
            <a:r>
              <a:rPr dirty="0" spc="-80"/>
              <a:t>peak</a:t>
            </a:r>
            <a:r>
              <a:rPr dirty="0" spc="-30"/>
              <a:t> </a:t>
            </a:r>
            <a:r>
              <a:rPr dirty="0" spc="-10"/>
              <a:t>hours.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80"/>
              </a:spcBef>
            </a:pPr>
          </a:p>
          <a:p>
            <a:pPr marL="4638675">
              <a:lnSpc>
                <a:spcPct val="100000"/>
              </a:lnSpc>
            </a:pPr>
            <a:r>
              <a:rPr dirty="0" sz="1650" spc="70" b="1">
                <a:latin typeface="Calibri"/>
                <a:cs typeface="Calibri"/>
              </a:rPr>
              <a:t>Inventory</a:t>
            </a:r>
            <a:r>
              <a:rPr dirty="0" sz="1650" spc="-15" b="1">
                <a:latin typeface="Calibri"/>
                <a:cs typeface="Calibri"/>
              </a:rPr>
              <a:t> </a:t>
            </a:r>
            <a:r>
              <a:rPr dirty="0" sz="1650" spc="110" b="1">
                <a:latin typeface="Calibri"/>
                <a:cs typeface="Calibri"/>
              </a:rPr>
              <a:t>Management</a:t>
            </a:r>
            <a:endParaRPr sz="1650">
              <a:latin typeface="Calibri"/>
              <a:cs typeface="Calibri"/>
            </a:endParaRPr>
          </a:p>
          <a:p>
            <a:pPr marL="4638675">
              <a:lnSpc>
                <a:spcPct val="100000"/>
              </a:lnSpc>
              <a:spcBef>
                <a:spcPts val="1220"/>
              </a:spcBef>
            </a:pPr>
            <a:r>
              <a:rPr dirty="0" spc="-45"/>
              <a:t>Automate</a:t>
            </a:r>
            <a:r>
              <a:rPr dirty="0" spc="-60"/>
              <a:t> </a:t>
            </a:r>
            <a:r>
              <a:rPr dirty="0"/>
              <a:t>stock</a:t>
            </a:r>
            <a:r>
              <a:rPr dirty="0" spc="-55"/>
              <a:t> </a:t>
            </a:r>
            <a:r>
              <a:rPr dirty="0" spc="-10"/>
              <a:t>tracking</a:t>
            </a:r>
            <a:r>
              <a:rPr dirty="0" spc="-55"/>
              <a:t> </a:t>
            </a:r>
            <a:r>
              <a:rPr dirty="0" spc="-85"/>
              <a:t>and</a:t>
            </a:r>
            <a:r>
              <a:rPr dirty="0" spc="-55"/>
              <a:t> </a:t>
            </a:r>
            <a:r>
              <a:rPr dirty="0" spc="-60"/>
              <a:t>generate</a:t>
            </a:r>
            <a:r>
              <a:rPr dirty="0" spc="-55"/>
              <a:t> </a:t>
            </a:r>
            <a:r>
              <a:rPr dirty="0" spc="-10"/>
              <a:t>reorder</a:t>
            </a:r>
            <a:r>
              <a:rPr dirty="0" spc="-55"/>
              <a:t> </a:t>
            </a:r>
            <a:r>
              <a:rPr dirty="0" spc="-10"/>
              <a:t>alerts.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75"/>
              </a:spcBef>
            </a:pPr>
          </a:p>
          <a:p>
            <a:pPr marL="5275580">
              <a:lnSpc>
                <a:spcPct val="100000"/>
              </a:lnSpc>
            </a:pPr>
            <a:r>
              <a:rPr dirty="0" sz="1650" spc="105" b="1">
                <a:latin typeface="Calibri"/>
                <a:cs typeface="Calibri"/>
              </a:rPr>
              <a:t>Online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spc="105" b="1">
                <a:latin typeface="Calibri"/>
                <a:cs typeface="Calibri"/>
              </a:rPr>
              <a:t>Order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 spc="70" b="1">
                <a:latin typeface="Calibri"/>
                <a:cs typeface="Calibri"/>
              </a:rPr>
              <a:t>Integration</a:t>
            </a:r>
            <a:endParaRPr sz="1650">
              <a:latin typeface="Calibri"/>
              <a:cs typeface="Calibri"/>
            </a:endParaRPr>
          </a:p>
          <a:p>
            <a:pPr marL="5275580">
              <a:lnSpc>
                <a:spcPct val="100000"/>
              </a:lnSpc>
              <a:spcBef>
                <a:spcPts val="1145"/>
              </a:spcBef>
            </a:pPr>
            <a:r>
              <a:rPr dirty="0"/>
              <a:t>Seamlessly</a:t>
            </a:r>
            <a:r>
              <a:rPr dirty="0" spc="-30"/>
              <a:t> </a:t>
            </a:r>
            <a:r>
              <a:rPr dirty="0" spc="-60"/>
              <a:t>connect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online</a:t>
            </a:r>
            <a:r>
              <a:rPr dirty="0" spc="-30"/>
              <a:t> </a:t>
            </a:r>
            <a:r>
              <a:rPr dirty="0" spc="-45"/>
              <a:t>food</a:t>
            </a:r>
            <a:r>
              <a:rPr dirty="0" spc="-25"/>
              <a:t> </a:t>
            </a:r>
            <a:r>
              <a:rPr dirty="0" spc="-20"/>
              <a:t>delivery</a:t>
            </a:r>
            <a:r>
              <a:rPr dirty="0" spc="-30"/>
              <a:t> </a:t>
            </a:r>
            <a:r>
              <a:rPr dirty="0" spc="-10"/>
              <a:t>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93716" y="2220810"/>
            <a:ext cx="2348865" cy="5575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450" spc="315"/>
              <a:t>Thank</a:t>
            </a:r>
            <a:r>
              <a:rPr dirty="0" sz="3450" spc="-90"/>
              <a:t> </a:t>
            </a:r>
            <a:r>
              <a:rPr dirty="0" sz="3450" spc="105"/>
              <a:t>You!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4893716" y="3004057"/>
            <a:ext cx="573722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dirty="0" sz="1400" spc="-35">
                <a:solidFill>
                  <a:srgbClr val="1E2F62"/>
                </a:solidFill>
                <a:latin typeface="Century Gothic"/>
                <a:cs typeface="Century Gothic"/>
              </a:rPr>
              <a:t>We</a:t>
            </a:r>
            <a:r>
              <a:rPr dirty="0" sz="140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appreciate </a:t>
            </a:r>
            <a:r>
              <a:rPr dirty="0" sz="1400" spc="-10">
                <a:solidFill>
                  <a:srgbClr val="1E2F62"/>
                </a:solidFill>
                <a:latin typeface="Century Gothic"/>
                <a:cs typeface="Century Gothic"/>
              </a:rPr>
              <a:t>your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35">
                <a:solidFill>
                  <a:srgbClr val="1E2F62"/>
                </a:solidFill>
                <a:latin typeface="Century Gothic"/>
                <a:cs typeface="Century Gothic"/>
              </a:rPr>
              <a:t>attention</a:t>
            </a:r>
            <a:r>
              <a:rPr dirty="0" sz="140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120">
                <a:solidFill>
                  <a:srgbClr val="1E2F62"/>
                </a:solidFill>
                <a:latin typeface="Century Gothic"/>
                <a:cs typeface="Century Gothic"/>
              </a:rPr>
              <a:t>and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90">
                <a:solidFill>
                  <a:srgbClr val="1E2F62"/>
                </a:solidFill>
                <a:latin typeface="Century Gothic"/>
                <a:cs typeface="Century Gothic"/>
              </a:rPr>
              <a:t>welcome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95">
                <a:solidFill>
                  <a:srgbClr val="1E2F62"/>
                </a:solidFill>
                <a:latin typeface="Century Gothic"/>
                <a:cs typeface="Century Gothic"/>
              </a:rPr>
              <a:t>any</a:t>
            </a:r>
            <a:r>
              <a:rPr dirty="0" sz="1400" spc="-9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1E2F62"/>
                </a:solidFill>
                <a:latin typeface="Century Gothic"/>
                <a:cs typeface="Century Gothic"/>
              </a:rPr>
              <a:t>questions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1E2F62"/>
                </a:solidFill>
                <a:latin typeface="Century Gothic"/>
                <a:cs typeface="Century Gothic"/>
              </a:rPr>
              <a:t>or</a:t>
            </a:r>
            <a:r>
              <a:rPr dirty="0" sz="1400" spc="-8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60">
                <a:solidFill>
                  <a:srgbClr val="1E2F62"/>
                </a:solidFill>
                <a:latin typeface="Century Gothic"/>
                <a:cs typeface="Century Gothic"/>
              </a:rPr>
              <a:t>feedback </a:t>
            </a:r>
            <a:r>
              <a:rPr dirty="0" sz="1400" spc="-50">
                <a:solidFill>
                  <a:srgbClr val="1E2F62"/>
                </a:solidFill>
                <a:latin typeface="Century Gothic"/>
                <a:cs typeface="Century Gothic"/>
              </a:rPr>
              <a:t>regarding</a:t>
            </a:r>
            <a:r>
              <a:rPr dirty="0" sz="140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30">
                <a:solidFill>
                  <a:srgbClr val="1E2F62"/>
                </a:solidFill>
                <a:latin typeface="Century Gothic"/>
                <a:cs typeface="Century Gothic"/>
              </a:rPr>
              <a:t>the</a:t>
            </a:r>
            <a:r>
              <a:rPr dirty="0" sz="140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30">
                <a:solidFill>
                  <a:srgbClr val="1E2F62"/>
                </a:solidFill>
                <a:latin typeface="Century Gothic"/>
                <a:cs typeface="Century Gothic"/>
              </a:rPr>
              <a:t>Restaurant</a:t>
            </a:r>
            <a:r>
              <a:rPr dirty="0" sz="140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1E2F62"/>
                </a:solidFill>
                <a:latin typeface="Century Gothic"/>
                <a:cs typeface="Century Gothic"/>
              </a:rPr>
              <a:t>Billing</a:t>
            </a:r>
            <a:r>
              <a:rPr dirty="0" sz="1400" spc="15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1E2F62"/>
                </a:solidFill>
                <a:latin typeface="Century Gothic"/>
                <a:cs typeface="Century Gothic"/>
              </a:rPr>
              <a:t>System</a:t>
            </a:r>
            <a:r>
              <a:rPr dirty="0" sz="140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>
                <a:solidFill>
                  <a:srgbClr val="1E2F62"/>
                </a:solidFill>
                <a:latin typeface="Century Gothic"/>
                <a:cs typeface="Century Gothic"/>
              </a:rPr>
              <a:t>Using</a:t>
            </a:r>
            <a:r>
              <a:rPr dirty="0" sz="1400" spc="10">
                <a:solidFill>
                  <a:srgbClr val="1E2F62"/>
                </a:solidFill>
                <a:latin typeface="Century Gothic"/>
                <a:cs typeface="Century Gothic"/>
              </a:rPr>
              <a:t> </a:t>
            </a:r>
            <a:r>
              <a:rPr dirty="0" sz="1400" spc="-25">
                <a:solidFill>
                  <a:srgbClr val="1E2F62"/>
                </a:solidFill>
                <a:latin typeface="Century Gothic"/>
                <a:cs typeface="Century Gothic"/>
              </a:rPr>
              <a:t>C.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05375" y="3848100"/>
            <a:ext cx="1666875" cy="333375"/>
            <a:chOff x="4905375" y="3848100"/>
            <a:chExt cx="1666875" cy="333375"/>
          </a:xfrm>
        </p:grpSpPr>
        <p:sp>
          <p:nvSpPr>
            <p:cNvPr id="6" name="object 6"/>
            <p:cNvSpPr/>
            <p:nvPr/>
          </p:nvSpPr>
          <p:spPr>
            <a:xfrm>
              <a:off x="4905375" y="3848100"/>
              <a:ext cx="1666875" cy="333375"/>
            </a:xfrm>
            <a:custGeom>
              <a:avLst/>
              <a:gdLst/>
              <a:ahLst/>
              <a:cxnLst/>
              <a:rect l="l" t="t" r="r" b="b"/>
              <a:pathLst>
                <a:path w="1666875" h="333375">
                  <a:moveTo>
                    <a:pt x="1567535" y="0"/>
                  </a:moveTo>
                  <a:lnTo>
                    <a:pt x="99339" y="0"/>
                  </a:lnTo>
                  <a:lnTo>
                    <a:pt x="92430" y="685"/>
                  </a:lnTo>
                  <a:lnTo>
                    <a:pt x="53060" y="14046"/>
                  </a:lnTo>
                  <a:lnTo>
                    <a:pt x="21793" y="41452"/>
                  </a:lnTo>
                  <a:lnTo>
                    <a:pt x="3403" y="78740"/>
                  </a:lnTo>
                  <a:lnTo>
                    <a:pt x="0" y="99339"/>
                  </a:lnTo>
                  <a:lnTo>
                    <a:pt x="0" y="227050"/>
                  </a:lnTo>
                  <a:lnTo>
                    <a:pt x="0" y="234022"/>
                  </a:lnTo>
                  <a:lnTo>
                    <a:pt x="10769" y="274193"/>
                  </a:lnTo>
                  <a:lnTo>
                    <a:pt x="36080" y="307162"/>
                  </a:lnTo>
                  <a:lnTo>
                    <a:pt x="72085" y="327952"/>
                  </a:lnTo>
                  <a:lnTo>
                    <a:pt x="99339" y="333375"/>
                  </a:lnTo>
                  <a:lnTo>
                    <a:pt x="1567535" y="333375"/>
                  </a:lnTo>
                  <a:lnTo>
                    <a:pt x="1607680" y="322605"/>
                  </a:lnTo>
                  <a:lnTo>
                    <a:pt x="1640674" y="297294"/>
                  </a:lnTo>
                  <a:lnTo>
                    <a:pt x="1661452" y="261289"/>
                  </a:lnTo>
                  <a:lnTo>
                    <a:pt x="1666875" y="234022"/>
                  </a:lnTo>
                  <a:lnTo>
                    <a:pt x="1666875" y="99339"/>
                  </a:lnTo>
                  <a:lnTo>
                    <a:pt x="1656105" y="59182"/>
                  </a:lnTo>
                  <a:lnTo>
                    <a:pt x="1630794" y="26200"/>
                  </a:lnTo>
                  <a:lnTo>
                    <a:pt x="1594789" y="5422"/>
                  </a:lnTo>
                  <a:lnTo>
                    <a:pt x="1574444" y="685"/>
                  </a:lnTo>
                  <a:lnTo>
                    <a:pt x="1567535" y="0"/>
                  </a:lnTo>
                  <a:close/>
                </a:path>
              </a:pathLst>
            </a:custGeom>
            <a:solidFill>
              <a:srgbClr val="CEE6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6140" y="3943087"/>
              <a:ext cx="148937" cy="14221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657975" y="3838575"/>
            <a:ext cx="2447925" cy="352425"/>
            <a:chOff x="6657975" y="3838575"/>
            <a:chExt cx="2447925" cy="352425"/>
          </a:xfrm>
        </p:grpSpPr>
        <p:sp>
          <p:nvSpPr>
            <p:cNvPr id="9" name="object 9"/>
            <p:cNvSpPr/>
            <p:nvPr/>
          </p:nvSpPr>
          <p:spPr>
            <a:xfrm>
              <a:off x="6662737" y="3843337"/>
              <a:ext cx="2438400" cy="342900"/>
            </a:xfrm>
            <a:custGeom>
              <a:avLst/>
              <a:gdLst/>
              <a:ahLst/>
              <a:cxnLst/>
              <a:rect l="l" t="t" r="r" b="b"/>
              <a:pathLst>
                <a:path w="2438400" h="342900">
                  <a:moveTo>
                    <a:pt x="0" y="241338"/>
                  </a:moveTo>
                  <a:lnTo>
                    <a:pt x="0" y="101561"/>
                  </a:lnTo>
                  <a:lnTo>
                    <a:pt x="0" y="94894"/>
                  </a:lnTo>
                  <a:lnTo>
                    <a:pt x="647" y="88290"/>
                  </a:lnTo>
                  <a:lnTo>
                    <a:pt x="1955" y="81749"/>
                  </a:lnTo>
                  <a:lnTo>
                    <a:pt x="3251" y="75209"/>
                  </a:lnTo>
                  <a:lnTo>
                    <a:pt x="5181" y="68859"/>
                  </a:lnTo>
                  <a:lnTo>
                    <a:pt x="7734" y="62699"/>
                  </a:lnTo>
                  <a:lnTo>
                    <a:pt x="10287" y="56540"/>
                  </a:lnTo>
                  <a:lnTo>
                    <a:pt x="13411" y="50685"/>
                  </a:lnTo>
                  <a:lnTo>
                    <a:pt x="17119" y="45135"/>
                  </a:lnTo>
                  <a:lnTo>
                    <a:pt x="20815" y="39585"/>
                  </a:lnTo>
                  <a:lnTo>
                    <a:pt x="50685" y="13411"/>
                  </a:lnTo>
                  <a:lnTo>
                    <a:pt x="62699" y="7734"/>
                  </a:lnTo>
                  <a:lnTo>
                    <a:pt x="68859" y="5181"/>
                  </a:lnTo>
                  <a:lnTo>
                    <a:pt x="75209" y="3251"/>
                  </a:lnTo>
                  <a:lnTo>
                    <a:pt x="81749" y="1955"/>
                  </a:lnTo>
                  <a:lnTo>
                    <a:pt x="88290" y="647"/>
                  </a:lnTo>
                  <a:lnTo>
                    <a:pt x="94894" y="0"/>
                  </a:lnTo>
                  <a:lnTo>
                    <a:pt x="101561" y="0"/>
                  </a:lnTo>
                  <a:lnTo>
                    <a:pt x="2336838" y="0"/>
                  </a:lnTo>
                  <a:lnTo>
                    <a:pt x="2343505" y="0"/>
                  </a:lnTo>
                  <a:lnTo>
                    <a:pt x="2350109" y="647"/>
                  </a:lnTo>
                  <a:lnTo>
                    <a:pt x="2356650" y="1955"/>
                  </a:lnTo>
                  <a:lnTo>
                    <a:pt x="2363190" y="3251"/>
                  </a:lnTo>
                  <a:lnTo>
                    <a:pt x="2369540" y="5181"/>
                  </a:lnTo>
                  <a:lnTo>
                    <a:pt x="2375700" y="7734"/>
                  </a:lnTo>
                  <a:lnTo>
                    <a:pt x="2381859" y="10274"/>
                  </a:lnTo>
                  <a:lnTo>
                    <a:pt x="2408643" y="29743"/>
                  </a:lnTo>
                  <a:lnTo>
                    <a:pt x="2413368" y="34455"/>
                  </a:lnTo>
                  <a:lnTo>
                    <a:pt x="2417584" y="39585"/>
                  </a:lnTo>
                  <a:lnTo>
                    <a:pt x="2421280" y="45135"/>
                  </a:lnTo>
                  <a:lnTo>
                    <a:pt x="2424988" y="50685"/>
                  </a:lnTo>
                  <a:lnTo>
                    <a:pt x="2436444" y="81749"/>
                  </a:lnTo>
                  <a:lnTo>
                    <a:pt x="2437752" y="88290"/>
                  </a:lnTo>
                  <a:lnTo>
                    <a:pt x="2438400" y="94894"/>
                  </a:lnTo>
                  <a:lnTo>
                    <a:pt x="2438400" y="101561"/>
                  </a:lnTo>
                  <a:lnTo>
                    <a:pt x="2438400" y="241338"/>
                  </a:lnTo>
                  <a:lnTo>
                    <a:pt x="2438400" y="248005"/>
                  </a:lnTo>
                  <a:lnTo>
                    <a:pt x="2437752" y="254609"/>
                  </a:lnTo>
                  <a:lnTo>
                    <a:pt x="2436444" y="261150"/>
                  </a:lnTo>
                  <a:lnTo>
                    <a:pt x="2435148" y="267690"/>
                  </a:lnTo>
                  <a:lnTo>
                    <a:pt x="2421280" y="297764"/>
                  </a:lnTo>
                  <a:lnTo>
                    <a:pt x="2417584" y="303301"/>
                  </a:lnTo>
                  <a:lnTo>
                    <a:pt x="2413368" y="308432"/>
                  </a:lnTo>
                  <a:lnTo>
                    <a:pt x="2408643" y="313143"/>
                  </a:lnTo>
                  <a:lnTo>
                    <a:pt x="2403932" y="317868"/>
                  </a:lnTo>
                  <a:lnTo>
                    <a:pt x="2369540" y="337718"/>
                  </a:lnTo>
                  <a:lnTo>
                    <a:pt x="2356650" y="340944"/>
                  </a:lnTo>
                  <a:lnTo>
                    <a:pt x="2350109" y="342252"/>
                  </a:lnTo>
                  <a:lnTo>
                    <a:pt x="2343505" y="342900"/>
                  </a:lnTo>
                  <a:lnTo>
                    <a:pt x="2336838" y="342900"/>
                  </a:lnTo>
                  <a:lnTo>
                    <a:pt x="101561" y="342900"/>
                  </a:lnTo>
                  <a:lnTo>
                    <a:pt x="94894" y="342900"/>
                  </a:lnTo>
                  <a:lnTo>
                    <a:pt x="88290" y="342252"/>
                  </a:lnTo>
                  <a:lnTo>
                    <a:pt x="81749" y="340944"/>
                  </a:lnTo>
                  <a:lnTo>
                    <a:pt x="75209" y="339648"/>
                  </a:lnTo>
                  <a:lnTo>
                    <a:pt x="68859" y="337718"/>
                  </a:lnTo>
                  <a:lnTo>
                    <a:pt x="62699" y="335165"/>
                  </a:lnTo>
                  <a:lnTo>
                    <a:pt x="56540" y="332613"/>
                  </a:lnTo>
                  <a:lnTo>
                    <a:pt x="29743" y="313143"/>
                  </a:lnTo>
                  <a:lnTo>
                    <a:pt x="25031" y="308432"/>
                  </a:lnTo>
                  <a:lnTo>
                    <a:pt x="20815" y="303301"/>
                  </a:lnTo>
                  <a:lnTo>
                    <a:pt x="17119" y="297764"/>
                  </a:lnTo>
                  <a:lnTo>
                    <a:pt x="13411" y="292214"/>
                  </a:lnTo>
                  <a:lnTo>
                    <a:pt x="1955" y="261150"/>
                  </a:lnTo>
                  <a:lnTo>
                    <a:pt x="647" y="254609"/>
                  </a:lnTo>
                  <a:lnTo>
                    <a:pt x="0" y="248005"/>
                  </a:lnTo>
                  <a:lnTo>
                    <a:pt x="0" y="241338"/>
                  </a:lnTo>
                  <a:close/>
                </a:path>
              </a:pathLst>
            </a:custGeom>
            <a:ln w="9525">
              <a:solidFill>
                <a:srgbClr val="84C1F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9138" y="3957485"/>
              <a:ext cx="148221" cy="11341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87501" y="3940407"/>
            <a:ext cx="149026" cy="14755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12511" y="3893692"/>
            <a:ext cx="12649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80">
                <a:solidFill>
                  <a:srgbClr val="1E2F62"/>
                </a:solidFill>
                <a:latin typeface="Century Gothic"/>
                <a:cs typeface="Century Gothic"/>
              </a:rPr>
              <a:t>C </a:t>
            </a:r>
            <a:r>
              <a:rPr dirty="0" sz="1100" spc="-10">
                <a:solidFill>
                  <a:srgbClr val="1E2F62"/>
                </a:solidFill>
                <a:latin typeface="Century Gothic"/>
                <a:cs typeface="Century Gothic"/>
              </a:rPr>
              <a:t>PROGRAMMING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4776" y="3893692"/>
            <a:ext cx="20275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70">
                <a:solidFill>
                  <a:srgbClr val="84C1F9"/>
                </a:solidFill>
                <a:latin typeface="Century Gothic"/>
                <a:cs typeface="Century Gothic"/>
              </a:rPr>
              <a:t>RESTAURANT</a:t>
            </a:r>
            <a:r>
              <a:rPr dirty="0" sz="1100" spc="-75">
                <a:solidFill>
                  <a:srgbClr val="84C1F9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84C1F9"/>
                </a:solidFill>
                <a:latin typeface="Century Gothic"/>
                <a:cs typeface="Century Gothic"/>
              </a:rPr>
              <a:t>MANAGEMENT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93552" y="3893692"/>
            <a:ext cx="9867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solidFill>
                  <a:srgbClr val="84C1F9"/>
                </a:solidFill>
                <a:latin typeface="Century Gothic"/>
                <a:cs typeface="Century Gothic"/>
              </a:rPr>
              <a:t>MINI</a:t>
            </a:r>
            <a:r>
              <a:rPr dirty="0" sz="1100" spc="-40">
                <a:solidFill>
                  <a:srgbClr val="84C1F9"/>
                </a:solidFill>
                <a:latin typeface="Century Gothic"/>
                <a:cs typeface="Century Gothic"/>
              </a:rPr>
              <a:t> </a:t>
            </a:r>
            <a:r>
              <a:rPr dirty="0" sz="1100" spc="-10">
                <a:solidFill>
                  <a:srgbClr val="84C1F9"/>
                </a:solidFill>
                <a:latin typeface="Century Gothic"/>
                <a:cs typeface="Century Gothic"/>
              </a:rPr>
              <a:t>PROJECT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2026-01-02T03:57:59Z</dcterms:created>
  <dcterms:modified xsi:type="dcterms:W3CDTF">2026-01-02T03:57:59Z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2026-01-02T00:00:00Z</vt:filetime>
  </property>
  <property fmtid="{D5CDD505-2E9C-101B-9397-08002B2CF9AE}" pid="5" name="Producer">
    <vt:lpwstr>GPL Ghostscript 9.56.1</vt:lpwstr>
  </property>
</Properties>
</file>